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7" r:id="rId2"/>
    <p:sldId id="338" r:id="rId3"/>
    <p:sldId id="351" r:id="rId4"/>
    <p:sldId id="352" r:id="rId5"/>
    <p:sldId id="350" r:id="rId6"/>
    <p:sldId id="353" r:id="rId7"/>
    <p:sldId id="354" r:id="rId8"/>
    <p:sldId id="355" r:id="rId9"/>
    <p:sldId id="356" r:id="rId10"/>
    <p:sldId id="357" r:id="rId11"/>
    <p:sldId id="358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FFFF"/>
    <a:srgbClr val="189040"/>
    <a:srgbClr val="D4DE33"/>
    <a:srgbClr val="92C32C"/>
    <a:srgbClr val="F2E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52786-BF0D-4BF5-AFA5-6DADCDE283E1}" v="1" dt="2020-08-07T03:10:44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ZHU WANG" userId="29ff2016-8b39-49ce-ad4a-3460f31506a6" providerId="ADAL" clId="{ABAAEDA4-C80C-42ED-80E3-A2D509922E75}"/>
    <pc:docChg chg="modSld">
      <pc:chgData name="JINZHU WANG" userId="29ff2016-8b39-49ce-ad4a-3460f31506a6" providerId="ADAL" clId="{ABAAEDA4-C80C-42ED-80E3-A2D509922E75}" dt="2020-05-04T05:37:19.846" v="21"/>
      <pc:docMkLst>
        <pc:docMk/>
      </pc:docMkLst>
      <pc:sldChg chg="modSp">
        <pc:chgData name="JINZHU WANG" userId="29ff2016-8b39-49ce-ad4a-3460f31506a6" providerId="ADAL" clId="{ABAAEDA4-C80C-42ED-80E3-A2D509922E75}" dt="2020-05-04T05:37:19.846" v="21"/>
        <pc:sldMkLst>
          <pc:docMk/>
          <pc:sldMk cId="0" sldId="256"/>
        </pc:sldMkLst>
        <pc:picChg chg="mod">
          <ac:chgData name="JINZHU WANG" userId="29ff2016-8b39-49ce-ad4a-3460f31506a6" providerId="ADAL" clId="{ABAAEDA4-C80C-42ED-80E3-A2D509922E75}" dt="2020-05-04T05:37:19.846" v="21"/>
          <ac:picMkLst>
            <pc:docMk/>
            <pc:sldMk cId="0" sldId="256"/>
            <ac:picMk id="3" creationId="{C5E4DB80-5CB5-4661-B91D-8D6F21F2B8F4}"/>
          </ac:picMkLst>
        </pc:picChg>
      </pc:sldChg>
    </pc:docChg>
  </pc:docChgLst>
  <pc:docChgLst>
    <pc:chgData name="JINZHU WANG" userId="29ff2016-8b39-49ce-ad4a-3460f31506a6" providerId="ADAL" clId="{A0952786-BF0D-4BF5-AFA5-6DADCDE283E1}"/>
    <pc:docChg chg="modSld">
      <pc:chgData name="JINZHU WANG" userId="29ff2016-8b39-49ce-ad4a-3460f31506a6" providerId="ADAL" clId="{A0952786-BF0D-4BF5-AFA5-6DADCDE283E1}" dt="2020-08-07T03:10:44.406" v="0" actId="1076"/>
      <pc:docMkLst>
        <pc:docMk/>
      </pc:docMkLst>
      <pc:sldChg chg="modSp">
        <pc:chgData name="JINZHU WANG" userId="29ff2016-8b39-49ce-ad4a-3460f31506a6" providerId="ADAL" clId="{A0952786-BF0D-4BF5-AFA5-6DADCDE283E1}" dt="2020-08-07T03:10:44.406" v="0" actId="1076"/>
        <pc:sldMkLst>
          <pc:docMk/>
          <pc:sldMk cId="310507173" sldId="303"/>
        </pc:sldMkLst>
        <pc:spChg chg="mod">
          <ac:chgData name="JINZHU WANG" userId="29ff2016-8b39-49ce-ad4a-3460f31506a6" providerId="ADAL" clId="{A0952786-BF0D-4BF5-AFA5-6DADCDE283E1}" dt="2020-08-07T03:10:44.406" v="0" actId="1076"/>
          <ac:spMkLst>
            <pc:docMk/>
            <pc:sldMk cId="310507173" sldId="303"/>
            <ac:spMk id="32" creationId="{68945955-54A3-41B0-A2F3-87DD1F395E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15098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D546979-6A10-45C3-BEEC-0A402C24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03" y="1320656"/>
            <a:ext cx="2124075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5" tIns="45702" rIns="91405" bIns="4570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  <a:cs typeface="+mn-ea"/>
                <a:sym typeface="+mn-lt"/>
              </a:rPr>
              <a:t>目录</a:t>
            </a:r>
            <a:endParaRPr lang="en-US" altLang="zh-CN" sz="3200" kern="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0030101010101" charset="-122"/>
              <a:ea typeface="黑体" panose="02010600030101010101" charset="-122"/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11065" y="1094088"/>
            <a:ext cx="5595159" cy="3814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非建设用地样本点采集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建设用地样本点采集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样本点的数量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傅里叶波段的作用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样本的均匀分布问题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982911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E5A85ED-17F8-4D81-A684-E8FC331D54AE}"/>
              </a:ext>
            </a:extLst>
          </p:cNvPr>
          <p:cNvSpPr/>
          <p:nvPr/>
        </p:nvSpPr>
        <p:spPr>
          <a:xfrm>
            <a:off x="4456769" y="2592232"/>
            <a:ext cx="3278462" cy="8367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非建设用地样本点采集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327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F3018F2-7E8E-46D0-9EB5-3A445F9D9ED0}"/>
              </a:ext>
            </a:extLst>
          </p:cNvPr>
          <p:cNvSpPr/>
          <p:nvPr/>
        </p:nvSpPr>
        <p:spPr>
          <a:xfrm>
            <a:off x="188176" y="2343150"/>
            <a:ext cx="6164999" cy="322715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DBC3E-1A00-4042-8CE2-FB329F5C90CF}"/>
              </a:ext>
            </a:extLst>
          </p:cNvPr>
          <p:cNvSpPr/>
          <p:nvPr/>
        </p:nvSpPr>
        <p:spPr>
          <a:xfrm>
            <a:off x="188176" y="60960"/>
            <a:ext cx="2252540" cy="604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非建设用地样本点采集</a:t>
            </a:r>
            <a:endParaRPr lang="en-US" altLang="zh-CN" sz="1600" b="1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EE0C9-6DFC-4A9E-9451-172BDE911888}"/>
              </a:ext>
            </a:extLst>
          </p:cNvPr>
          <p:cNvSpPr/>
          <p:nvPr/>
        </p:nvSpPr>
        <p:spPr>
          <a:xfrm>
            <a:off x="659557" y="157588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分层随机采样</a:t>
            </a:r>
            <a:endParaRPr lang="en-US" altLang="zh-C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DF17-1E65-4082-BCE7-4B923191A4FA}"/>
              </a:ext>
            </a:extLst>
          </p:cNvPr>
          <p:cNvCxnSpPr/>
          <p:nvPr/>
        </p:nvCxnSpPr>
        <p:spPr>
          <a:xfrm>
            <a:off x="0" y="748937"/>
            <a:ext cx="5120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ACA2748B-2C66-4C95-B1E4-19A809ECEE19}"/>
              </a:ext>
            </a:extLst>
          </p:cNvPr>
          <p:cNvSpPr/>
          <p:nvPr/>
        </p:nvSpPr>
        <p:spPr>
          <a:xfrm>
            <a:off x="1231203" y="3746382"/>
            <a:ext cx="1790700" cy="1038225"/>
          </a:xfrm>
          <a:prstGeom prst="snip2Diag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FF0335-72DF-474E-8C81-9419FEABDEFB}"/>
              </a:ext>
            </a:extLst>
          </p:cNvPr>
          <p:cNvSpPr/>
          <p:nvPr/>
        </p:nvSpPr>
        <p:spPr>
          <a:xfrm>
            <a:off x="3627436" y="3294966"/>
            <a:ext cx="785793" cy="1732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-2:</a:t>
            </a:r>
            <a:r>
              <a:rPr lang="en-US" altLang="zh-CN" dirty="0"/>
              <a:t>600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-1:</a:t>
            </a:r>
            <a:r>
              <a:rPr lang="en-US" altLang="zh-CN" dirty="0"/>
              <a:t>400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0:</a:t>
            </a:r>
            <a:r>
              <a:rPr lang="en-US" altLang="zh-CN" dirty="0"/>
              <a:t>200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1:</a:t>
            </a:r>
            <a:r>
              <a:rPr lang="en-US" altLang="zh-CN" dirty="0"/>
              <a:t>500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2:</a:t>
            </a:r>
            <a:r>
              <a:rPr lang="en-US" altLang="zh-CN" dirty="0"/>
              <a:t>300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3A6F56-F955-4707-8612-465CB0B3F1DD}"/>
              </a:ext>
            </a:extLst>
          </p:cNvPr>
          <p:cNvSpPr/>
          <p:nvPr/>
        </p:nvSpPr>
        <p:spPr>
          <a:xfrm>
            <a:off x="382319" y="4131339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研究区</a:t>
            </a:r>
            <a:endParaRPr lang="en-US" altLang="zh-CN" sz="14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36A4485-C107-47A0-9904-45BC928EC341}"/>
              </a:ext>
            </a:extLst>
          </p:cNvPr>
          <p:cNvSpPr/>
          <p:nvPr/>
        </p:nvSpPr>
        <p:spPr>
          <a:xfrm>
            <a:off x="1646444" y="3798390"/>
            <a:ext cx="306087" cy="27622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A4656FD-8CFC-4FD3-BC2B-392CD16D0680}"/>
              </a:ext>
            </a:extLst>
          </p:cNvPr>
          <p:cNvSpPr/>
          <p:nvPr/>
        </p:nvSpPr>
        <p:spPr>
          <a:xfrm>
            <a:off x="1927058" y="4015273"/>
            <a:ext cx="306087" cy="27622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45BFF9E-96CC-4317-8278-96D8707DAAA4}"/>
              </a:ext>
            </a:extLst>
          </p:cNvPr>
          <p:cNvSpPr/>
          <p:nvPr/>
        </p:nvSpPr>
        <p:spPr>
          <a:xfrm>
            <a:off x="1444387" y="4271139"/>
            <a:ext cx="306087" cy="27622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EA1029C-81D9-4985-AC11-FC8E8A8060EF}"/>
              </a:ext>
            </a:extLst>
          </p:cNvPr>
          <p:cNvSpPr/>
          <p:nvPr/>
        </p:nvSpPr>
        <p:spPr>
          <a:xfrm>
            <a:off x="2067498" y="4386938"/>
            <a:ext cx="306087" cy="27622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D96263E-2426-4212-8482-E89457F289D4}"/>
              </a:ext>
            </a:extLst>
          </p:cNvPr>
          <p:cNvSpPr/>
          <p:nvPr/>
        </p:nvSpPr>
        <p:spPr>
          <a:xfrm>
            <a:off x="2506219" y="4084500"/>
            <a:ext cx="306087" cy="27622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BB24D67-20ED-4EED-93C5-3255C0271737}"/>
              </a:ext>
            </a:extLst>
          </p:cNvPr>
          <p:cNvSpPr/>
          <p:nvPr/>
        </p:nvSpPr>
        <p:spPr>
          <a:xfrm>
            <a:off x="1795116" y="3352834"/>
            <a:ext cx="662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NDVI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AC879CB-C858-46FA-8AFE-60B0231F4439}"/>
              </a:ext>
            </a:extLst>
          </p:cNvPr>
          <p:cNvCxnSpPr/>
          <p:nvPr/>
        </p:nvCxnSpPr>
        <p:spPr>
          <a:xfrm flipV="1">
            <a:off x="1857901" y="3537500"/>
            <a:ext cx="1710150" cy="39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4E1150-8EBE-48E0-9395-11A0457D97DE}"/>
              </a:ext>
            </a:extLst>
          </p:cNvPr>
          <p:cNvCxnSpPr>
            <a:cxnSpLocks/>
          </p:cNvCxnSpPr>
          <p:nvPr/>
        </p:nvCxnSpPr>
        <p:spPr>
          <a:xfrm flipV="1">
            <a:off x="2011916" y="3844255"/>
            <a:ext cx="1556135" cy="3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A3E2FB-B743-4F9F-83F4-26CC898F509C}"/>
              </a:ext>
            </a:extLst>
          </p:cNvPr>
          <p:cNvCxnSpPr>
            <a:cxnSpLocks/>
          </p:cNvCxnSpPr>
          <p:nvPr/>
        </p:nvCxnSpPr>
        <p:spPr>
          <a:xfrm flipV="1">
            <a:off x="2656536" y="4176744"/>
            <a:ext cx="970900" cy="58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A1F3F62-D3D1-4A4C-AE73-AEAC699C22D4}"/>
              </a:ext>
            </a:extLst>
          </p:cNvPr>
          <p:cNvCxnSpPr>
            <a:cxnSpLocks/>
          </p:cNvCxnSpPr>
          <p:nvPr/>
        </p:nvCxnSpPr>
        <p:spPr>
          <a:xfrm>
            <a:off x="1560932" y="4422921"/>
            <a:ext cx="2137424" cy="13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7DDAE70-CA27-4354-969F-B95185548647}"/>
              </a:ext>
            </a:extLst>
          </p:cNvPr>
          <p:cNvCxnSpPr>
            <a:cxnSpLocks/>
          </p:cNvCxnSpPr>
          <p:nvPr/>
        </p:nvCxnSpPr>
        <p:spPr>
          <a:xfrm>
            <a:off x="2220541" y="4593232"/>
            <a:ext cx="1491753" cy="225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63DC5BBE-0142-4B26-ADB2-A3E6B3273E82}"/>
              </a:ext>
            </a:extLst>
          </p:cNvPr>
          <p:cNvSpPr/>
          <p:nvPr/>
        </p:nvSpPr>
        <p:spPr>
          <a:xfrm>
            <a:off x="4656814" y="4049063"/>
            <a:ext cx="625942" cy="311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F0D734-80A6-4F70-9725-F2D6BF0C9098}"/>
              </a:ext>
            </a:extLst>
          </p:cNvPr>
          <p:cNvSpPr/>
          <p:nvPr/>
        </p:nvSpPr>
        <p:spPr>
          <a:xfrm>
            <a:off x="5427227" y="3301019"/>
            <a:ext cx="668773" cy="1732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-2:</a:t>
            </a:r>
            <a:r>
              <a:rPr lang="en-US" altLang="zh-CN" dirty="0"/>
              <a:t>30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-1:</a:t>
            </a:r>
            <a:r>
              <a:rPr lang="en-US" altLang="zh-CN" dirty="0"/>
              <a:t>20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0:</a:t>
            </a:r>
            <a:r>
              <a:rPr lang="en-US" altLang="zh-CN" dirty="0"/>
              <a:t>40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1:</a:t>
            </a:r>
            <a:r>
              <a:rPr lang="en-US" altLang="zh-CN" dirty="0"/>
              <a:t>25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 2:</a:t>
            </a:r>
            <a:r>
              <a:rPr lang="en-US" altLang="zh-CN" dirty="0"/>
              <a:t>15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9B92A31-278C-4197-B1A4-EE1F465D1FBE}"/>
              </a:ext>
            </a:extLst>
          </p:cNvPr>
          <p:cNvSpPr/>
          <p:nvPr/>
        </p:nvSpPr>
        <p:spPr>
          <a:xfrm>
            <a:off x="3877505" y="2824429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2k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E83C7C-F1A1-42E1-A88B-C63A7A8D00F9}"/>
              </a:ext>
            </a:extLst>
          </p:cNvPr>
          <p:cNvSpPr/>
          <p:nvPr/>
        </p:nvSpPr>
        <p:spPr>
          <a:xfrm>
            <a:off x="5493751" y="2824429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100</a:t>
            </a:r>
            <a:endParaRPr lang="en-US" dirty="0"/>
          </a:p>
        </p:txBody>
      </p:sp>
      <p:pic>
        <p:nvPicPr>
          <p:cNvPr id="98" name="Picture 97" descr="Chart, bar chart, histogram&#10;&#10;Description automatically generated">
            <a:extLst>
              <a:ext uri="{FF2B5EF4-FFF2-40B4-BE49-F238E27FC236}">
                <a16:creationId xmlns:a16="http://schemas.microsoft.com/office/drawing/2014/main" id="{720AE54D-67F4-495C-8B70-FA2EB6344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896" y="2701893"/>
            <a:ext cx="5006089" cy="285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6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E5A85ED-17F8-4D81-A684-E8FC331D54AE}"/>
              </a:ext>
            </a:extLst>
          </p:cNvPr>
          <p:cNvSpPr/>
          <p:nvPr/>
        </p:nvSpPr>
        <p:spPr>
          <a:xfrm>
            <a:off x="4456769" y="2592232"/>
            <a:ext cx="2969083" cy="8367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建设用地样本点采集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95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DBC3E-1A00-4042-8CE2-FB329F5C90CF}"/>
              </a:ext>
            </a:extLst>
          </p:cNvPr>
          <p:cNvSpPr/>
          <p:nvPr/>
        </p:nvSpPr>
        <p:spPr>
          <a:xfrm>
            <a:off x="188176" y="60960"/>
            <a:ext cx="2045753" cy="5886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建设用地样本点采集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DF17-1E65-4082-BCE7-4B923191A4FA}"/>
              </a:ext>
            </a:extLst>
          </p:cNvPr>
          <p:cNvCxnSpPr/>
          <p:nvPr/>
        </p:nvCxnSpPr>
        <p:spPr>
          <a:xfrm>
            <a:off x="0" y="748937"/>
            <a:ext cx="5120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70BAE58-A2E5-4AB1-806A-5231BA7F25B1}"/>
              </a:ext>
            </a:extLst>
          </p:cNvPr>
          <p:cNvGrpSpPr/>
          <p:nvPr/>
        </p:nvGrpSpPr>
        <p:grpSpPr>
          <a:xfrm>
            <a:off x="1804061" y="1208632"/>
            <a:ext cx="4291939" cy="2347497"/>
            <a:chOff x="108608" y="2271913"/>
            <a:chExt cx="4291939" cy="234749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ED182A1-00B3-45CD-96F7-96FD4A8619DC}"/>
                </a:ext>
              </a:extLst>
            </p:cNvPr>
            <p:cNvSpPr/>
            <p:nvPr/>
          </p:nvSpPr>
          <p:spPr>
            <a:xfrm>
              <a:off x="188176" y="2343151"/>
              <a:ext cx="4212371" cy="22050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30B47E8-E42A-4279-86BD-521C91359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608" y="2271913"/>
              <a:ext cx="3447701" cy="234749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A9F6E0-2586-4540-87AE-CE8BACF8B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6822" y="2983115"/>
              <a:ext cx="1038110" cy="131926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4EE9C91-3866-48E8-A7FA-ABF1951A09D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9F2D0"/>
              </a:clrFrom>
              <a:clrTo>
                <a:srgbClr val="C9F2D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83629" y="3755088"/>
            <a:ext cx="4212123" cy="242663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45A1DEA-0E8A-4946-892D-E147DD3B6E6E}"/>
              </a:ext>
            </a:extLst>
          </p:cNvPr>
          <p:cNvSpPr/>
          <p:nvPr/>
        </p:nvSpPr>
        <p:spPr>
          <a:xfrm>
            <a:off x="691195" y="2283439"/>
            <a:ext cx="5615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ROI</a:t>
            </a:r>
            <a:r>
              <a:rPr lang="zh-CN" altLang="en-US" sz="1200" dirty="0"/>
              <a:t>点</a:t>
            </a:r>
            <a:endParaRPr lang="en-US" altLang="zh-CN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381095-B12E-4711-9166-68C14BCEAF5C}"/>
              </a:ext>
            </a:extLst>
          </p:cNvPr>
          <p:cNvSpPr/>
          <p:nvPr/>
        </p:nvSpPr>
        <p:spPr>
          <a:xfrm>
            <a:off x="691195" y="4869465"/>
            <a:ext cx="10231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ROI</a:t>
            </a:r>
            <a:r>
              <a:rPr lang="zh-CN" altLang="en-US" sz="1200" dirty="0"/>
              <a:t>密度网格</a:t>
            </a:r>
            <a:endParaRPr lang="en-US" altLang="zh-CN" sz="120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D0FC05A-864D-46D2-83F1-9B521BB3511E}"/>
              </a:ext>
            </a:extLst>
          </p:cNvPr>
          <p:cNvSpPr/>
          <p:nvPr/>
        </p:nvSpPr>
        <p:spPr>
          <a:xfrm rot="10800000">
            <a:off x="6442386" y="2759725"/>
            <a:ext cx="323850" cy="19907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7F3F30-3E65-4BB0-8E4F-34A727BFE2CD}"/>
              </a:ext>
            </a:extLst>
          </p:cNvPr>
          <p:cNvCxnSpPr>
            <a:cxnSpLocks/>
          </p:cNvCxnSpPr>
          <p:nvPr/>
        </p:nvCxnSpPr>
        <p:spPr>
          <a:xfrm>
            <a:off x="6766236" y="3764612"/>
            <a:ext cx="1072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752E4AD-8BDC-4E27-B72B-95E3A36B6E9A}"/>
              </a:ext>
            </a:extLst>
          </p:cNvPr>
          <p:cNvSpPr/>
          <p:nvPr/>
        </p:nvSpPr>
        <p:spPr>
          <a:xfrm>
            <a:off x="6935758" y="3525350"/>
            <a:ext cx="90281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dirty="0"/>
              <a:t>每个格子一个点</a:t>
            </a:r>
            <a:endParaRPr lang="en-US" altLang="zh-CN" sz="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3751-9F21-4D5E-9A0F-0301DBAE0EF4}"/>
              </a:ext>
            </a:extLst>
          </p:cNvPr>
          <p:cNvSpPr/>
          <p:nvPr/>
        </p:nvSpPr>
        <p:spPr>
          <a:xfrm>
            <a:off x="7956859" y="3509961"/>
            <a:ext cx="80021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建设用地</a:t>
            </a:r>
            <a:endParaRPr lang="en-US" altLang="zh-CN" sz="1200" dirty="0"/>
          </a:p>
          <a:p>
            <a:r>
              <a:rPr lang="zh-CN" altLang="en-US" sz="1200" dirty="0"/>
              <a:t>样本点</a:t>
            </a:r>
            <a:endParaRPr lang="en-US" altLang="zh-CN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1994F43-FB0F-4C2A-AC9F-59F7A624E7C8}"/>
              </a:ext>
            </a:extLst>
          </p:cNvPr>
          <p:cNvCxnSpPr>
            <a:cxnSpLocks/>
          </p:cNvCxnSpPr>
          <p:nvPr/>
        </p:nvCxnSpPr>
        <p:spPr>
          <a:xfrm>
            <a:off x="8757078" y="3764612"/>
            <a:ext cx="13108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2E6C79A-3E29-4CCE-88D8-1C2D5147A314}"/>
              </a:ext>
            </a:extLst>
          </p:cNvPr>
          <p:cNvSpPr/>
          <p:nvPr/>
        </p:nvSpPr>
        <p:spPr>
          <a:xfrm>
            <a:off x="8875368" y="3539643"/>
            <a:ext cx="110318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dirty="0"/>
              <a:t>每个区域随机</a:t>
            </a:r>
            <a:r>
              <a:rPr lang="en-US" altLang="zh-CN" sz="800" dirty="0"/>
              <a:t>5k</a:t>
            </a:r>
            <a:r>
              <a:rPr lang="zh-CN" altLang="en-US" sz="800" dirty="0"/>
              <a:t>个点</a:t>
            </a:r>
            <a:endParaRPr lang="en-US" altLang="zh-CN" sz="8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D47C0D-FB52-4AD5-A4B6-71E9549A5341}"/>
              </a:ext>
            </a:extLst>
          </p:cNvPr>
          <p:cNvSpPr/>
          <p:nvPr/>
        </p:nvSpPr>
        <p:spPr>
          <a:xfrm>
            <a:off x="10096845" y="3637130"/>
            <a:ext cx="800219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用于分类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136405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E5A85ED-17F8-4D81-A684-E8FC331D54AE}"/>
              </a:ext>
            </a:extLst>
          </p:cNvPr>
          <p:cNvSpPr/>
          <p:nvPr/>
        </p:nvSpPr>
        <p:spPr>
          <a:xfrm>
            <a:off x="4856819" y="2592232"/>
            <a:ext cx="2040943" cy="8367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样本点的数量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153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DBC3E-1A00-4042-8CE2-FB329F5C90CF}"/>
              </a:ext>
            </a:extLst>
          </p:cNvPr>
          <p:cNvSpPr/>
          <p:nvPr/>
        </p:nvSpPr>
        <p:spPr>
          <a:xfrm>
            <a:off x="188176" y="60960"/>
            <a:ext cx="1425390" cy="5886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样本点的数量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DF17-1E65-4082-BCE7-4B923191A4FA}"/>
              </a:ext>
            </a:extLst>
          </p:cNvPr>
          <p:cNvCxnSpPr/>
          <p:nvPr/>
        </p:nvCxnSpPr>
        <p:spPr>
          <a:xfrm>
            <a:off x="0" y="748937"/>
            <a:ext cx="5120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BF87A682-AB0B-4D86-B303-95B3FAFF3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69724"/>
              </p:ext>
            </p:extLst>
          </p:nvPr>
        </p:nvGraphicFramePr>
        <p:xfrm>
          <a:off x="1212850" y="2238375"/>
          <a:ext cx="34544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7863674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152184241"/>
                    </a:ext>
                  </a:extLst>
                </a:gridCol>
              </a:tblGrid>
              <a:tr h="338031">
                <a:tc>
                  <a:txBody>
                    <a:bodyPr/>
                    <a:lstStyle/>
                    <a:p>
                      <a:r>
                        <a:rPr lang="zh-CN" altLang="en-US" dirty="0"/>
                        <a:t>样本点的数量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分类精度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84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72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71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2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469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153755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F2B043B6-06E4-4AD2-AEC1-EB57294C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38" y="1722453"/>
            <a:ext cx="5824537" cy="325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118528-BFE7-42D4-9376-A7DD9CEA340F}"/>
              </a:ext>
            </a:extLst>
          </p:cNvPr>
          <p:cNvCxnSpPr/>
          <p:nvPr/>
        </p:nvCxnSpPr>
        <p:spPr>
          <a:xfrm>
            <a:off x="7543800" y="1952625"/>
            <a:ext cx="0" cy="250571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348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E5A85ED-17F8-4D81-A684-E8FC331D54AE}"/>
              </a:ext>
            </a:extLst>
          </p:cNvPr>
          <p:cNvSpPr/>
          <p:nvPr/>
        </p:nvSpPr>
        <p:spPr>
          <a:xfrm>
            <a:off x="4485344" y="2592232"/>
            <a:ext cx="2659702" cy="8367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傅里叶波段的作用</a:t>
            </a:r>
          </a:p>
        </p:txBody>
      </p:sp>
    </p:spTree>
    <p:extLst>
      <p:ext uri="{BB962C8B-B14F-4D97-AF65-F5344CB8AC3E}">
        <p14:creationId xmlns:p14="http://schemas.microsoft.com/office/powerpoint/2010/main" val="2821822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DBC3E-1A00-4042-8CE2-FB329F5C90CF}"/>
              </a:ext>
            </a:extLst>
          </p:cNvPr>
          <p:cNvSpPr/>
          <p:nvPr/>
        </p:nvSpPr>
        <p:spPr>
          <a:xfrm>
            <a:off x="188176" y="60960"/>
            <a:ext cx="1838965" cy="5886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傅里叶波段的作用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DF17-1E65-4082-BCE7-4B923191A4FA}"/>
              </a:ext>
            </a:extLst>
          </p:cNvPr>
          <p:cNvCxnSpPr/>
          <p:nvPr/>
        </p:nvCxnSpPr>
        <p:spPr>
          <a:xfrm>
            <a:off x="0" y="748937"/>
            <a:ext cx="5120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BF87A682-AB0B-4D86-B303-95B3FAFF3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696158"/>
              </p:ext>
            </p:extLst>
          </p:nvPr>
        </p:nvGraphicFramePr>
        <p:xfrm>
          <a:off x="812483" y="2147464"/>
          <a:ext cx="3006725" cy="2563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809">
                  <a:extLst>
                    <a:ext uri="{9D8B030D-6E8A-4147-A177-3AD203B41FA5}">
                      <a16:colId xmlns:a16="http://schemas.microsoft.com/office/drawing/2014/main" val="359888856"/>
                    </a:ext>
                  </a:extLst>
                </a:gridCol>
                <a:gridCol w="1290916">
                  <a:extLst>
                    <a:ext uri="{9D8B030D-6E8A-4147-A177-3AD203B41FA5}">
                      <a16:colId xmlns:a16="http://schemas.microsoft.com/office/drawing/2014/main" val="2152184241"/>
                    </a:ext>
                  </a:extLst>
                </a:gridCol>
              </a:tblGrid>
              <a:tr h="338031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输入波段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分类精度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8490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zh-CN" altLang="en-US" sz="1400" dirty="0"/>
                        <a:t>有傅里叶波段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7281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7111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2186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zh-CN" altLang="en-US" sz="1400" dirty="0"/>
                        <a:t>无傅里叶波段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4697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1537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8844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FF67B30-35CC-4F7A-B213-A940A72DD98A}"/>
              </a:ext>
            </a:extLst>
          </p:cNvPr>
          <p:cNvGrpSpPr/>
          <p:nvPr/>
        </p:nvGrpSpPr>
        <p:grpSpPr>
          <a:xfrm>
            <a:off x="5524500" y="451147"/>
            <a:ext cx="6200775" cy="6258725"/>
            <a:chOff x="5305425" y="857250"/>
            <a:chExt cx="5095875" cy="5143499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966D554-1FC3-45EC-BFA7-D904251360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091"/>
            <a:stretch/>
          </p:blipFill>
          <p:spPr bwMode="auto">
            <a:xfrm>
              <a:off x="5305425" y="857250"/>
              <a:ext cx="5095875" cy="514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412DE5-68EE-4C50-A49C-7F2CECA57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396345" y="4586358"/>
              <a:ext cx="2923809" cy="11333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368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E5A85ED-17F8-4D81-A684-E8FC331D54AE}"/>
              </a:ext>
            </a:extLst>
          </p:cNvPr>
          <p:cNvSpPr/>
          <p:nvPr/>
        </p:nvSpPr>
        <p:spPr>
          <a:xfrm>
            <a:off x="4485344" y="2592232"/>
            <a:ext cx="2969083" cy="8367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样本的均匀分布问题</a:t>
            </a:r>
          </a:p>
        </p:txBody>
      </p:sp>
    </p:spTree>
    <p:extLst>
      <p:ext uri="{BB962C8B-B14F-4D97-AF65-F5344CB8AC3E}">
        <p14:creationId xmlns:p14="http://schemas.microsoft.com/office/powerpoint/2010/main" val="551509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DBC3E-1A00-4042-8CE2-FB329F5C90CF}"/>
              </a:ext>
            </a:extLst>
          </p:cNvPr>
          <p:cNvSpPr/>
          <p:nvPr/>
        </p:nvSpPr>
        <p:spPr>
          <a:xfrm>
            <a:off x="188176" y="60960"/>
            <a:ext cx="2045753" cy="5886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样本的均匀分布问题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DF17-1E65-4082-BCE7-4B923191A4FA}"/>
              </a:ext>
            </a:extLst>
          </p:cNvPr>
          <p:cNvCxnSpPr/>
          <p:nvPr/>
        </p:nvCxnSpPr>
        <p:spPr>
          <a:xfrm>
            <a:off x="0" y="748937"/>
            <a:ext cx="5120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463B7E6-094C-401E-9A49-4D677E20C773}"/>
              </a:ext>
            </a:extLst>
          </p:cNvPr>
          <p:cNvSpPr/>
          <p:nvPr/>
        </p:nvSpPr>
        <p:spPr>
          <a:xfrm>
            <a:off x="751414" y="3234018"/>
            <a:ext cx="64633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样本点</a:t>
            </a:r>
            <a:endParaRPr lang="en-US" altLang="zh-C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BA0E08-AEE0-4E4C-9420-B2038413C51D}"/>
              </a:ext>
            </a:extLst>
          </p:cNvPr>
          <p:cNvCxnSpPr/>
          <p:nvPr/>
        </p:nvCxnSpPr>
        <p:spPr>
          <a:xfrm>
            <a:off x="1778232" y="3372518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60F672-5115-46DA-845C-70F01FCB05C7}"/>
              </a:ext>
            </a:extLst>
          </p:cNvPr>
          <p:cNvCxnSpPr/>
          <p:nvPr/>
        </p:nvCxnSpPr>
        <p:spPr>
          <a:xfrm>
            <a:off x="6445482" y="3385708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F7261F8-1CA8-4A06-AC04-704864ED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415" y="2109392"/>
            <a:ext cx="3057167" cy="2803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AEB4F9-5970-4CED-9BB5-0C9D18EEDC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0644" y="1827106"/>
            <a:ext cx="3057163" cy="28138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8B42BA-FE14-42C4-AF5F-09F1B73561A1}"/>
              </a:ext>
            </a:extLst>
          </p:cNvPr>
          <p:cNvSpPr/>
          <p:nvPr/>
        </p:nvSpPr>
        <p:spPr>
          <a:xfrm>
            <a:off x="8695264" y="1688606"/>
            <a:ext cx="800219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用于验证</a:t>
            </a:r>
            <a:endParaRPr lang="en-US" altLang="zh-CN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DFA8B4-76D4-4296-AE4A-A9EBF197AB1A}"/>
              </a:ext>
            </a:extLst>
          </p:cNvPr>
          <p:cNvSpPr/>
          <p:nvPr/>
        </p:nvSpPr>
        <p:spPr>
          <a:xfrm>
            <a:off x="881211" y="5866283"/>
            <a:ext cx="64633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样本点</a:t>
            </a:r>
            <a:endParaRPr lang="en-US" altLang="zh-CN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C287D2-EFE2-4F25-AA1E-EB5202AF5DD3}"/>
              </a:ext>
            </a:extLst>
          </p:cNvPr>
          <p:cNvSpPr/>
          <p:nvPr/>
        </p:nvSpPr>
        <p:spPr>
          <a:xfrm>
            <a:off x="2425932" y="5866282"/>
            <a:ext cx="800219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用于验证</a:t>
            </a:r>
            <a:endParaRPr lang="en-US" altLang="zh-CN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E0B57B-0510-4F90-9FC6-038452D158BF}"/>
              </a:ext>
            </a:extLst>
          </p:cNvPr>
          <p:cNvCxnSpPr/>
          <p:nvPr/>
        </p:nvCxnSpPr>
        <p:spPr>
          <a:xfrm>
            <a:off x="1652887" y="6004782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E8817A9-D2DB-42D6-B659-BCAD1BD28409}"/>
              </a:ext>
            </a:extLst>
          </p:cNvPr>
          <p:cNvSpPr/>
          <p:nvPr/>
        </p:nvSpPr>
        <p:spPr>
          <a:xfrm>
            <a:off x="1768988" y="5773949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/>
              <a:t>排除</a:t>
            </a:r>
            <a:endParaRPr lang="en-US" sz="9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DAF9BD-6FF1-4925-8622-49FF153B384C}"/>
              </a:ext>
            </a:extLst>
          </p:cNvPr>
          <p:cNvCxnSpPr/>
          <p:nvPr/>
        </p:nvCxnSpPr>
        <p:spPr>
          <a:xfrm>
            <a:off x="3367387" y="6004781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6C43ECB-E868-4875-A126-F0F466F290CD}"/>
              </a:ext>
            </a:extLst>
          </p:cNvPr>
          <p:cNvSpPr/>
          <p:nvPr/>
        </p:nvSpPr>
        <p:spPr>
          <a:xfrm>
            <a:off x="4097966" y="5866281"/>
            <a:ext cx="800219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/>
              <a:t>用于分类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36695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264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黑体</vt:lpstr>
      <vt:lpstr>Arial</vt:lpstr>
      <vt:lpstr>Calibri</vt:lpstr>
      <vt:lpstr>Calibri Light</vt:lpstr>
      <vt:lpstr>Wingdings</vt:lpstr>
      <vt:lpstr>第一PPT，www.1ppt.com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新农村</dc:title>
  <dc:creator>第一PPT</dc:creator>
  <cp:keywords>www.1ppt.com</cp:keywords>
  <cp:lastModifiedBy>Wang Jinzhu</cp:lastModifiedBy>
  <cp:revision>184</cp:revision>
  <dcterms:created xsi:type="dcterms:W3CDTF">2017-02-23T06:18:28Z</dcterms:created>
  <dcterms:modified xsi:type="dcterms:W3CDTF">2020-10-31T08:12:11Z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