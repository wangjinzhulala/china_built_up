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7" r:id="rId2"/>
    <p:sldId id="338" r:id="rId3"/>
    <p:sldId id="339" r:id="rId4"/>
    <p:sldId id="354" r:id="rId5"/>
    <p:sldId id="355" r:id="rId6"/>
    <p:sldId id="356" r:id="rId7"/>
    <p:sldId id="357" r:id="rId8"/>
    <p:sldId id="358" r:id="rId9"/>
    <p:sldId id="359" r:id="rId10"/>
    <p:sldId id="340" r:id="rId11"/>
    <p:sldId id="360" r:id="rId12"/>
    <p:sldId id="361" r:id="rId13"/>
    <p:sldId id="341" r:id="rId14"/>
    <p:sldId id="362" r:id="rId15"/>
    <p:sldId id="363" r:id="rId16"/>
    <p:sldId id="342" r:id="rId17"/>
    <p:sldId id="343" r:id="rId18"/>
    <p:sldId id="344" r:id="rId19"/>
    <p:sldId id="365" r:id="rId20"/>
    <p:sldId id="364" r:id="rId21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FFFFFF"/>
    <a:srgbClr val="189040"/>
    <a:srgbClr val="D4DE33"/>
    <a:srgbClr val="92C32C"/>
    <a:srgbClr val="F2EE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952786-BF0D-4BF5-AFA5-6DADCDE283E1}" v="1" dt="2020-08-07T03:10:44.4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8" y="12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ZHU WANG" userId="29ff2016-8b39-49ce-ad4a-3460f31506a6" providerId="ADAL" clId="{ABAAEDA4-C80C-42ED-80E3-A2D509922E75}"/>
    <pc:docChg chg="modSld">
      <pc:chgData name="JINZHU WANG" userId="29ff2016-8b39-49ce-ad4a-3460f31506a6" providerId="ADAL" clId="{ABAAEDA4-C80C-42ED-80E3-A2D509922E75}" dt="2020-05-04T05:37:19.846" v="21"/>
      <pc:docMkLst>
        <pc:docMk/>
      </pc:docMkLst>
      <pc:sldChg chg="modSp">
        <pc:chgData name="JINZHU WANG" userId="29ff2016-8b39-49ce-ad4a-3460f31506a6" providerId="ADAL" clId="{ABAAEDA4-C80C-42ED-80E3-A2D509922E75}" dt="2020-05-04T05:37:19.846" v="21"/>
        <pc:sldMkLst>
          <pc:docMk/>
          <pc:sldMk cId="0" sldId="256"/>
        </pc:sldMkLst>
        <pc:picChg chg="mod">
          <ac:chgData name="JINZHU WANG" userId="29ff2016-8b39-49ce-ad4a-3460f31506a6" providerId="ADAL" clId="{ABAAEDA4-C80C-42ED-80E3-A2D509922E75}" dt="2020-05-04T05:37:19.846" v="21"/>
          <ac:picMkLst>
            <pc:docMk/>
            <pc:sldMk cId="0" sldId="256"/>
            <ac:picMk id="3" creationId="{C5E4DB80-5CB5-4661-B91D-8D6F21F2B8F4}"/>
          </ac:picMkLst>
        </pc:picChg>
      </pc:sldChg>
    </pc:docChg>
  </pc:docChgLst>
  <pc:docChgLst>
    <pc:chgData name="JINZHU WANG" userId="29ff2016-8b39-49ce-ad4a-3460f31506a6" providerId="ADAL" clId="{A0952786-BF0D-4BF5-AFA5-6DADCDE283E1}"/>
    <pc:docChg chg="modSld">
      <pc:chgData name="JINZHU WANG" userId="29ff2016-8b39-49ce-ad4a-3460f31506a6" providerId="ADAL" clId="{A0952786-BF0D-4BF5-AFA5-6DADCDE283E1}" dt="2020-08-07T03:10:44.406" v="0" actId="1076"/>
      <pc:docMkLst>
        <pc:docMk/>
      </pc:docMkLst>
      <pc:sldChg chg="modSp">
        <pc:chgData name="JINZHU WANG" userId="29ff2016-8b39-49ce-ad4a-3460f31506a6" providerId="ADAL" clId="{A0952786-BF0D-4BF5-AFA5-6DADCDE283E1}" dt="2020-08-07T03:10:44.406" v="0" actId="1076"/>
        <pc:sldMkLst>
          <pc:docMk/>
          <pc:sldMk cId="310507173" sldId="303"/>
        </pc:sldMkLst>
        <pc:spChg chg="mod">
          <ac:chgData name="JINZHU WANG" userId="29ff2016-8b39-49ce-ad4a-3460f31506a6" providerId="ADAL" clId="{A0952786-BF0D-4BF5-AFA5-6DADCDE283E1}" dt="2020-08-07T03:10:44.406" v="0" actId="1076"/>
          <ac:spMkLst>
            <pc:docMk/>
            <pc:sldMk cId="310507173" sldId="303"/>
            <ac:spMk id="32" creationId="{68945955-54A3-41B0-A2F3-87DD1F395EE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8815098" y="6431122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E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2020/9/20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6F17A20-D7FB-4D18-B0C6-C7969CAAF89B}"/>
              </a:ext>
            </a:extLst>
          </p:cNvPr>
          <p:cNvSpPr/>
          <p:nvPr/>
        </p:nvSpPr>
        <p:spPr>
          <a:xfrm>
            <a:off x="4216939" y="869513"/>
            <a:ext cx="6212936" cy="4931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SzPct val="90000"/>
              <a:buFont typeface="Wingdings" panose="05000000000000000000" pitchFamily="2" charset="2"/>
              <a:buChar char="§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遥感分类的流程是什么？</a:t>
            </a:r>
            <a:endParaRPr lang="en-US" altLang="zh-CN" sz="2400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  <a:p>
            <a:pPr marL="457200" indent="-457200">
              <a:lnSpc>
                <a:spcPct val="120000"/>
              </a:lnSpc>
              <a:buSzPct val="90000"/>
              <a:buFont typeface="Wingdings" panose="05000000000000000000" pitchFamily="2" charset="2"/>
              <a:buChar char="§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为什么要采集训练点？</a:t>
            </a:r>
            <a:endParaRPr lang="en-US" altLang="zh-CN" sz="2400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  <a:p>
            <a:pPr marL="457200" indent="-457200">
              <a:lnSpc>
                <a:spcPct val="120000"/>
              </a:lnSpc>
              <a:buSzPct val="90000"/>
              <a:buFont typeface="Wingdings" panose="05000000000000000000" pitchFamily="2" charset="2"/>
              <a:buChar char="§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常见的训练点采集办法和问题。</a:t>
            </a:r>
            <a:endParaRPr lang="en-US" altLang="zh-CN" sz="2400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  <a:p>
            <a:pPr marL="457200" indent="-457200">
              <a:lnSpc>
                <a:spcPct val="120000"/>
              </a:lnSpc>
              <a:buSzPct val="90000"/>
              <a:buFont typeface="Wingdings" panose="05000000000000000000" pitchFamily="2" charset="2"/>
              <a:buChar char="§"/>
            </a:pPr>
            <a:endParaRPr lang="en-US" altLang="zh-CN" sz="2400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  <a:p>
            <a:pPr marL="457200" indent="-457200">
              <a:lnSpc>
                <a:spcPct val="120000"/>
              </a:lnSpc>
              <a:buSzPct val="90000"/>
              <a:buFont typeface="Wingdings" panose="05000000000000000000" pitchFamily="2" charset="2"/>
              <a:buChar char="§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我们研究的特点，困难和办法。</a:t>
            </a:r>
            <a:endParaRPr lang="en-US" altLang="zh-CN" sz="2400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  <a:p>
            <a:pPr marL="457200" indent="-457200">
              <a:lnSpc>
                <a:spcPct val="120000"/>
              </a:lnSpc>
              <a:buSzPct val="90000"/>
              <a:buFont typeface="Wingdings" panose="05000000000000000000" pitchFamily="2" charset="2"/>
              <a:buChar char="§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具体的训练点采集方法。</a:t>
            </a:r>
            <a:endParaRPr lang="en-US" altLang="zh-CN" sz="2400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  <a:p>
            <a:pPr marL="457200" indent="-457200">
              <a:lnSpc>
                <a:spcPct val="120000"/>
              </a:lnSpc>
              <a:buSzPct val="90000"/>
              <a:buFont typeface="Wingdings" panose="05000000000000000000" pitchFamily="2" charset="2"/>
              <a:buChar char="§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我们训练点采集办法的潜在问题。</a:t>
            </a:r>
            <a:endParaRPr lang="en-US" altLang="zh-CN" sz="2400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  <a:p>
            <a:pPr marL="457200" indent="-457200">
              <a:lnSpc>
                <a:spcPct val="120000"/>
              </a:lnSpc>
              <a:buSzPct val="90000"/>
              <a:buFont typeface="Wingdings" panose="05000000000000000000" pitchFamily="2" charset="2"/>
              <a:buChar char="§"/>
            </a:pPr>
            <a:endParaRPr lang="en-US" altLang="zh-CN" sz="2400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  <a:p>
            <a:pPr marL="457200" indent="-457200">
              <a:lnSpc>
                <a:spcPct val="120000"/>
              </a:lnSpc>
              <a:buSzPct val="90000"/>
              <a:buFont typeface="Wingdings" panose="05000000000000000000" pitchFamily="2" charset="2"/>
              <a:buChar char="§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中国建设用地的提取流程</a:t>
            </a:r>
            <a:endParaRPr lang="en-US" altLang="zh-CN" sz="2400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  <a:p>
            <a:pPr marL="457200" indent="-457200">
              <a:lnSpc>
                <a:spcPct val="120000"/>
              </a:lnSpc>
              <a:buSzPct val="90000"/>
              <a:buFont typeface="Wingdings" panose="05000000000000000000" pitchFamily="2" charset="2"/>
              <a:buChar char="§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数据准备，</a:t>
            </a:r>
            <a:r>
              <a:rPr lang="en-US" altLang="zh-CN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Python</a:t>
            </a: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代码，数据存储</a:t>
            </a:r>
            <a:endParaRPr lang="en-US" altLang="zh-CN" sz="2400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  <a:p>
            <a:pPr marL="457200" indent="-457200">
              <a:lnSpc>
                <a:spcPct val="120000"/>
              </a:lnSpc>
              <a:buSzPct val="90000"/>
              <a:buFont typeface="Wingdings" panose="05000000000000000000" pitchFamily="2" charset="2"/>
              <a:buChar char="§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每个人的具体任务和角色。</a:t>
            </a:r>
            <a:endParaRPr lang="en-US" altLang="zh-CN" sz="2400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B26891-3341-40F9-A3AA-4B83333E9AAB}"/>
              </a:ext>
            </a:extLst>
          </p:cNvPr>
          <p:cNvSpPr/>
          <p:nvPr/>
        </p:nvSpPr>
        <p:spPr>
          <a:xfrm>
            <a:off x="2068676" y="2946363"/>
            <a:ext cx="1823007" cy="721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05" tIns="45702" rIns="91405" bIns="45702" numCol="1" anchor="ctr" anchorCtr="0" compatLnSpc="1"/>
          <a:lstStyle/>
          <a:p>
            <a:pPr algn="ctr"/>
            <a:r>
              <a:rPr lang="zh-CN" altLang="en-US" sz="3200" b="1" kern="0" dirty="0">
                <a:solidFill>
                  <a:schemeClr val="tx1">
                    <a:lumMod val="65000"/>
                    <a:lumOff val="35000"/>
                  </a:schemeClr>
                </a:solidFill>
                <a:ea typeface="黑体" panose="02010600030101010101" charset="-122"/>
                <a:cs typeface="+mn-ea"/>
              </a:rPr>
              <a:t>目录</a:t>
            </a:r>
            <a:endParaRPr lang="en-US" sz="3200" b="1" kern="0" dirty="0">
              <a:solidFill>
                <a:schemeClr val="tx1">
                  <a:lumMod val="65000"/>
                  <a:lumOff val="35000"/>
                </a:schemeClr>
              </a:solidFill>
              <a:ea typeface="黑体" panose="02010600030101010101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58735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83B410B-0B89-4451-99EA-CD819DFEB532}"/>
              </a:ext>
            </a:extLst>
          </p:cNvPr>
          <p:cNvSpPr/>
          <p:nvPr/>
        </p:nvSpPr>
        <p:spPr>
          <a:xfrm>
            <a:off x="3618441" y="2170498"/>
            <a:ext cx="4955117" cy="2198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SzPct val="90000"/>
              <a:buFont typeface="Wingdings" panose="05000000000000000000" pitchFamily="2" charset="2"/>
              <a:buChar char="§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遥感分类的流程是什么？</a:t>
            </a:r>
            <a:endParaRPr lang="en-US" altLang="zh-CN" sz="2400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  <a:p>
            <a:pPr marL="457200" indent="-457200">
              <a:lnSpc>
                <a:spcPct val="200000"/>
              </a:lnSpc>
              <a:buSzPct val="90000"/>
              <a:buFont typeface="Wingdings" panose="05000000000000000000" pitchFamily="2" charset="2"/>
              <a:buChar char="§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为什么要采集训练点？</a:t>
            </a:r>
            <a:endParaRPr lang="en-US" altLang="zh-CN" sz="2400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  <a:p>
            <a:pPr marL="457200" indent="-457200">
              <a:lnSpc>
                <a:spcPct val="200000"/>
              </a:lnSpc>
              <a:buSzPct val="90000"/>
              <a:buFont typeface="Wingdings" panose="05000000000000000000" pitchFamily="2" charset="2"/>
              <a:buChar char="§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常见的训练点采集办法和问题。</a:t>
            </a:r>
            <a:endParaRPr lang="en-US" altLang="zh-CN" sz="2400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31549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47F3770-903C-4E19-B6C9-AC15B3FB6670}"/>
              </a:ext>
            </a:extLst>
          </p:cNvPr>
          <p:cNvSpPr/>
          <p:nvPr/>
        </p:nvSpPr>
        <p:spPr>
          <a:xfrm>
            <a:off x="6678197" y="1927399"/>
            <a:ext cx="2255569" cy="276204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ED254DFB-2994-41C8-900D-5CFE349688E7}"/>
              </a:ext>
            </a:extLst>
          </p:cNvPr>
          <p:cNvSpPr/>
          <p:nvPr/>
        </p:nvSpPr>
        <p:spPr>
          <a:xfrm>
            <a:off x="9565636" y="1927399"/>
            <a:ext cx="2255569" cy="281416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BAB46465-55BB-4AE7-A2AC-09F04BE2CA13}"/>
              </a:ext>
            </a:extLst>
          </p:cNvPr>
          <p:cNvSpPr/>
          <p:nvPr/>
        </p:nvSpPr>
        <p:spPr>
          <a:xfrm>
            <a:off x="3841557" y="1927399"/>
            <a:ext cx="2255569" cy="276204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C9CC899-04A7-41B0-9637-3B99FB6C3AF6}"/>
              </a:ext>
            </a:extLst>
          </p:cNvPr>
          <p:cNvSpPr/>
          <p:nvPr/>
        </p:nvSpPr>
        <p:spPr>
          <a:xfrm>
            <a:off x="168179" y="1979519"/>
            <a:ext cx="2873297" cy="276204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F58891-BF69-4AE8-99AA-1A1C8DC6CF8E}"/>
              </a:ext>
            </a:extLst>
          </p:cNvPr>
          <p:cNvSpPr/>
          <p:nvPr/>
        </p:nvSpPr>
        <p:spPr>
          <a:xfrm>
            <a:off x="188989" y="260877"/>
            <a:ext cx="2723823" cy="564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SzPct val="90000"/>
            </a:pPr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遥感分类的流程是什么？</a:t>
            </a:r>
            <a:endParaRPr lang="en-US" altLang="zh-CN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</p:txBody>
      </p:sp>
      <p:grpSp>
        <p:nvGrpSpPr>
          <p:cNvPr id="5" name="组合 41">
            <a:extLst>
              <a:ext uri="{FF2B5EF4-FFF2-40B4-BE49-F238E27FC236}">
                <a16:creationId xmlns:a16="http://schemas.microsoft.com/office/drawing/2014/main" id="{BF2DD2F6-3340-4E0B-B289-BD1668AC865C}"/>
              </a:ext>
            </a:extLst>
          </p:cNvPr>
          <p:cNvGrpSpPr/>
          <p:nvPr/>
        </p:nvGrpSpPr>
        <p:grpSpPr>
          <a:xfrm>
            <a:off x="421031" y="2449829"/>
            <a:ext cx="2494667" cy="1496452"/>
            <a:chOff x="3332787" y="2590177"/>
            <a:chExt cx="2673615" cy="1603797"/>
          </a:xfrm>
        </p:grpSpPr>
        <p:pic>
          <p:nvPicPr>
            <p:cNvPr id="6" name="图片 335">
              <a:extLst>
                <a:ext uri="{FF2B5EF4-FFF2-40B4-BE49-F238E27FC236}">
                  <a16:creationId xmlns:a16="http://schemas.microsoft.com/office/drawing/2014/main" id="{22B530F3-7C9A-41BD-A562-DC6CEAACB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32787" y="2590177"/>
              <a:ext cx="1539441" cy="1603797"/>
            </a:xfrm>
            <a:prstGeom prst="rect">
              <a:avLst/>
            </a:prstGeom>
          </p:spPr>
        </p:pic>
        <p:cxnSp>
          <p:nvCxnSpPr>
            <p:cNvPr id="7" name="直接连接符 336">
              <a:extLst>
                <a:ext uri="{FF2B5EF4-FFF2-40B4-BE49-F238E27FC236}">
                  <a16:creationId xmlns:a16="http://schemas.microsoft.com/office/drawing/2014/main" id="{8F949F53-667A-46B3-A0F5-5CF831D0C656}"/>
                </a:ext>
              </a:extLst>
            </p:cNvPr>
            <p:cNvCxnSpPr>
              <a:cxnSpLocks/>
            </p:cNvCxnSpPr>
            <p:nvPr/>
          </p:nvCxnSpPr>
          <p:spPr>
            <a:xfrm>
              <a:off x="3959699" y="2775835"/>
              <a:ext cx="0" cy="9320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337">
              <a:extLst>
                <a:ext uri="{FF2B5EF4-FFF2-40B4-BE49-F238E27FC236}">
                  <a16:creationId xmlns:a16="http://schemas.microsoft.com/office/drawing/2014/main" id="{F917FAF0-8D72-4DEA-9D6F-5C284C93D0EB}"/>
                </a:ext>
              </a:extLst>
            </p:cNvPr>
            <p:cNvCxnSpPr>
              <a:cxnSpLocks/>
            </p:cNvCxnSpPr>
            <p:nvPr/>
          </p:nvCxnSpPr>
          <p:spPr>
            <a:xfrm>
              <a:off x="3850251" y="2775835"/>
              <a:ext cx="0" cy="10995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338">
              <a:extLst>
                <a:ext uri="{FF2B5EF4-FFF2-40B4-BE49-F238E27FC236}">
                  <a16:creationId xmlns:a16="http://schemas.microsoft.com/office/drawing/2014/main" id="{BE10B972-07B6-4DA7-B2A5-C92B6A966E46}"/>
                </a:ext>
              </a:extLst>
            </p:cNvPr>
            <p:cNvCxnSpPr>
              <a:cxnSpLocks/>
            </p:cNvCxnSpPr>
            <p:nvPr/>
          </p:nvCxnSpPr>
          <p:spPr>
            <a:xfrm>
              <a:off x="4413453" y="2775835"/>
              <a:ext cx="0" cy="7473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339">
              <a:extLst>
                <a:ext uri="{FF2B5EF4-FFF2-40B4-BE49-F238E27FC236}">
                  <a16:creationId xmlns:a16="http://schemas.microsoft.com/office/drawing/2014/main" id="{E33BFF28-A9C5-44EE-8C85-6F60677F672C}"/>
                </a:ext>
              </a:extLst>
            </p:cNvPr>
            <p:cNvCxnSpPr>
              <a:cxnSpLocks/>
            </p:cNvCxnSpPr>
            <p:nvPr/>
          </p:nvCxnSpPr>
          <p:spPr>
            <a:xfrm>
              <a:off x="4216218" y="2775835"/>
              <a:ext cx="0" cy="11335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340">
              <a:extLst>
                <a:ext uri="{FF2B5EF4-FFF2-40B4-BE49-F238E27FC236}">
                  <a16:creationId xmlns:a16="http://schemas.microsoft.com/office/drawing/2014/main" id="{C68CBB44-9ADB-4AD0-BF63-79C8297EBE38}"/>
                </a:ext>
              </a:extLst>
            </p:cNvPr>
            <p:cNvCxnSpPr>
              <a:cxnSpLocks/>
            </p:cNvCxnSpPr>
            <p:nvPr/>
          </p:nvCxnSpPr>
          <p:spPr>
            <a:xfrm>
              <a:off x="3850251" y="2775835"/>
              <a:ext cx="15885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流程图: 磁盘 377">
              <a:extLst>
                <a:ext uri="{FF2B5EF4-FFF2-40B4-BE49-F238E27FC236}">
                  <a16:creationId xmlns:a16="http://schemas.microsoft.com/office/drawing/2014/main" id="{5A11A3A9-A382-4CCF-931F-1B2BDF6C759E}"/>
                </a:ext>
              </a:extLst>
            </p:cNvPr>
            <p:cNvSpPr/>
            <p:nvPr/>
          </p:nvSpPr>
          <p:spPr>
            <a:xfrm>
              <a:off x="4994212" y="3366137"/>
              <a:ext cx="1012190" cy="502920"/>
            </a:xfrm>
            <a:prstGeom prst="flowChartMagneticDisk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文本框 47">
              <a:extLst>
                <a:ext uri="{FF2B5EF4-FFF2-40B4-BE49-F238E27FC236}">
                  <a16:creationId xmlns:a16="http://schemas.microsoft.com/office/drawing/2014/main" id="{53F0E951-6391-4565-BEC1-772DDEEF31D6}"/>
                </a:ext>
              </a:extLst>
            </p:cNvPr>
            <p:cNvSpPr txBox="1"/>
            <p:nvPr/>
          </p:nvSpPr>
          <p:spPr>
            <a:xfrm>
              <a:off x="4998825" y="3637410"/>
              <a:ext cx="1002937" cy="3327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algn="ctr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kern="100" dirty="0"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宋体" panose="02010600030101010101" pitchFamily="2" charset="-122"/>
                </a:rPr>
                <a:t>Samples</a:t>
              </a:r>
              <a:endParaRPr lang="en-US" sz="10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endParaRPr>
            </a:p>
          </p:txBody>
        </p:sp>
        <p:cxnSp>
          <p:nvCxnSpPr>
            <p:cNvPr id="14" name="直接连接符 341">
              <a:extLst>
                <a:ext uri="{FF2B5EF4-FFF2-40B4-BE49-F238E27FC236}">
                  <a16:creationId xmlns:a16="http://schemas.microsoft.com/office/drawing/2014/main" id="{B0F1FE4A-FCF7-48DB-9A47-F5602263B5C6}"/>
                </a:ext>
              </a:extLst>
            </p:cNvPr>
            <p:cNvCxnSpPr>
              <a:cxnSpLocks/>
            </p:cNvCxnSpPr>
            <p:nvPr/>
          </p:nvCxnSpPr>
          <p:spPr>
            <a:xfrm>
              <a:off x="5438775" y="2775835"/>
              <a:ext cx="0" cy="6162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202">
            <a:extLst>
              <a:ext uri="{FF2B5EF4-FFF2-40B4-BE49-F238E27FC236}">
                <a16:creationId xmlns:a16="http://schemas.microsoft.com/office/drawing/2014/main" id="{513F7BF9-31F3-41D6-81E7-1FE9F005BF03}"/>
              </a:ext>
            </a:extLst>
          </p:cNvPr>
          <p:cNvGrpSpPr/>
          <p:nvPr/>
        </p:nvGrpSpPr>
        <p:grpSpPr>
          <a:xfrm>
            <a:off x="4103801" y="2801562"/>
            <a:ext cx="1705932" cy="1246526"/>
            <a:chOff x="5340350" y="2908300"/>
            <a:chExt cx="1467696" cy="1072447"/>
          </a:xfrm>
        </p:grpSpPr>
        <p:sp>
          <p:nvSpPr>
            <p:cNvPr id="16" name="椭圆 147">
              <a:extLst>
                <a:ext uri="{FF2B5EF4-FFF2-40B4-BE49-F238E27FC236}">
                  <a16:creationId xmlns:a16="http://schemas.microsoft.com/office/drawing/2014/main" id="{A563D5B3-9BA9-4BB4-A4EA-74ABEF298F1A}"/>
                </a:ext>
              </a:extLst>
            </p:cNvPr>
            <p:cNvSpPr/>
            <p:nvPr/>
          </p:nvSpPr>
          <p:spPr>
            <a:xfrm>
              <a:off x="6000750" y="2908300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椭圆 148">
              <a:extLst>
                <a:ext uri="{FF2B5EF4-FFF2-40B4-BE49-F238E27FC236}">
                  <a16:creationId xmlns:a16="http://schemas.microsoft.com/office/drawing/2014/main" id="{BE4C1041-27E4-4C96-AC28-08429E3B1B6C}"/>
                </a:ext>
              </a:extLst>
            </p:cNvPr>
            <p:cNvSpPr/>
            <p:nvPr/>
          </p:nvSpPr>
          <p:spPr>
            <a:xfrm>
              <a:off x="5568950" y="3128407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椭圆 149">
              <a:extLst>
                <a:ext uri="{FF2B5EF4-FFF2-40B4-BE49-F238E27FC236}">
                  <a16:creationId xmlns:a16="http://schemas.microsoft.com/office/drawing/2014/main" id="{DD6819F9-EDC6-4A88-9327-78C3CFD8ACE2}"/>
                </a:ext>
              </a:extLst>
            </p:cNvPr>
            <p:cNvSpPr/>
            <p:nvPr/>
          </p:nvSpPr>
          <p:spPr>
            <a:xfrm>
              <a:off x="5340350" y="3337957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椭圆 150">
              <a:extLst>
                <a:ext uri="{FF2B5EF4-FFF2-40B4-BE49-F238E27FC236}">
                  <a16:creationId xmlns:a16="http://schemas.microsoft.com/office/drawing/2014/main" id="{0CCD7B17-7BDD-4440-8231-A03CF0A12E44}"/>
                </a:ext>
              </a:extLst>
            </p:cNvPr>
            <p:cNvSpPr/>
            <p:nvPr/>
          </p:nvSpPr>
          <p:spPr>
            <a:xfrm>
              <a:off x="5774269" y="3383280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椭圆 151">
              <a:extLst>
                <a:ext uri="{FF2B5EF4-FFF2-40B4-BE49-F238E27FC236}">
                  <a16:creationId xmlns:a16="http://schemas.microsoft.com/office/drawing/2014/main" id="{3F40F3F1-C64D-45C1-AC6E-0C2124ECED26}"/>
                </a:ext>
              </a:extLst>
            </p:cNvPr>
            <p:cNvSpPr/>
            <p:nvPr/>
          </p:nvSpPr>
          <p:spPr>
            <a:xfrm>
              <a:off x="5616788" y="3646283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椭圆 152">
              <a:extLst>
                <a:ext uri="{FF2B5EF4-FFF2-40B4-BE49-F238E27FC236}">
                  <a16:creationId xmlns:a16="http://schemas.microsoft.com/office/drawing/2014/main" id="{02617739-3144-43B2-8498-5FFA7DAC2350}"/>
                </a:ext>
              </a:extLst>
            </p:cNvPr>
            <p:cNvSpPr/>
            <p:nvPr/>
          </p:nvSpPr>
          <p:spPr>
            <a:xfrm>
              <a:off x="5949528" y="3623423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椭圆 153">
              <a:extLst>
                <a:ext uri="{FF2B5EF4-FFF2-40B4-BE49-F238E27FC236}">
                  <a16:creationId xmlns:a16="http://schemas.microsoft.com/office/drawing/2014/main" id="{DCEA9F97-EBC7-44F2-953A-E198766CFC01}"/>
                </a:ext>
              </a:extLst>
            </p:cNvPr>
            <p:cNvSpPr/>
            <p:nvPr/>
          </p:nvSpPr>
          <p:spPr>
            <a:xfrm>
              <a:off x="6476578" y="3151266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椭圆 154">
              <a:extLst>
                <a:ext uri="{FF2B5EF4-FFF2-40B4-BE49-F238E27FC236}">
                  <a16:creationId xmlns:a16="http://schemas.microsoft.com/office/drawing/2014/main" id="{49BC758A-7E09-4A41-A626-033E71643A92}"/>
                </a:ext>
              </a:extLst>
            </p:cNvPr>
            <p:cNvSpPr/>
            <p:nvPr/>
          </p:nvSpPr>
          <p:spPr>
            <a:xfrm>
              <a:off x="6279728" y="3360816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椭圆 155">
              <a:extLst>
                <a:ext uri="{FF2B5EF4-FFF2-40B4-BE49-F238E27FC236}">
                  <a16:creationId xmlns:a16="http://schemas.microsoft.com/office/drawing/2014/main" id="{0C73E90B-C748-4889-9407-F30A11AEEDDC}"/>
                </a:ext>
              </a:extLst>
            </p:cNvPr>
            <p:cNvSpPr/>
            <p:nvPr/>
          </p:nvSpPr>
          <p:spPr>
            <a:xfrm>
              <a:off x="6762327" y="3337957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椭圆 156">
              <a:extLst>
                <a:ext uri="{FF2B5EF4-FFF2-40B4-BE49-F238E27FC236}">
                  <a16:creationId xmlns:a16="http://schemas.microsoft.com/office/drawing/2014/main" id="{4025594F-010B-4CF7-AF28-E99D6C52626A}"/>
                </a:ext>
              </a:extLst>
            </p:cNvPr>
            <p:cNvSpPr/>
            <p:nvPr/>
          </p:nvSpPr>
          <p:spPr>
            <a:xfrm>
              <a:off x="6622627" y="3632425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椭圆 157">
              <a:extLst>
                <a:ext uri="{FF2B5EF4-FFF2-40B4-BE49-F238E27FC236}">
                  <a16:creationId xmlns:a16="http://schemas.microsoft.com/office/drawing/2014/main" id="{B467CC30-6900-421B-8EA5-75EE2108DBF5}"/>
                </a:ext>
              </a:extLst>
            </p:cNvPr>
            <p:cNvSpPr/>
            <p:nvPr/>
          </p:nvSpPr>
          <p:spPr>
            <a:xfrm>
              <a:off x="6415963" y="3632425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椭圆 158">
              <a:extLst>
                <a:ext uri="{FF2B5EF4-FFF2-40B4-BE49-F238E27FC236}">
                  <a16:creationId xmlns:a16="http://schemas.microsoft.com/office/drawing/2014/main" id="{D6734D2E-1088-425A-BAE0-4BECD3A4C4AE}"/>
                </a:ext>
              </a:extLst>
            </p:cNvPr>
            <p:cNvSpPr/>
            <p:nvPr/>
          </p:nvSpPr>
          <p:spPr>
            <a:xfrm>
              <a:off x="6255362" y="3935028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椭圆 159">
              <a:extLst>
                <a:ext uri="{FF2B5EF4-FFF2-40B4-BE49-F238E27FC236}">
                  <a16:creationId xmlns:a16="http://schemas.microsoft.com/office/drawing/2014/main" id="{C2E8F517-572E-458D-A754-49632B8A0239}"/>
                </a:ext>
              </a:extLst>
            </p:cNvPr>
            <p:cNvSpPr/>
            <p:nvPr/>
          </p:nvSpPr>
          <p:spPr>
            <a:xfrm>
              <a:off x="5461816" y="3905474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椭圆 160">
              <a:extLst>
                <a:ext uri="{FF2B5EF4-FFF2-40B4-BE49-F238E27FC236}">
                  <a16:creationId xmlns:a16="http://schemas.microsoft.com/office/drawing/2014/main" id="{BBB40682-B46B-44D5-B08C-BFF2977F3EEB}"/>
                </a:ext>
              </a:extLst>
            </p:cNvPr>
            <p:cNvSpPr/>
            <p:nvPr/>
          </p:nvSpPr>
          <p:spPr>
            <a:xfrm>
              <a:off x="5774269" y="3928333"/>
              <a:ext cx="45719" cy="45719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0" name="直接连接符 162">
              <a:extLst>
                <a:ext uri="{FF2B5EF4-FFF2-40B4-BE49-F238E27FC236}">
                  <a16:creationId xmlns:a16="http://schemas.microsoft.com/office/drawing/2014/main" id="{115C1342-393A-457C-8B05-F26773B9F149}"/>
                </a:ext>
              </a:extLst>
            </p:cNvPr>
            <p:cNvCxnSpPr>
              <a:cxnSpLocks/>
              <a:stCxn id="16" idx="2"/>
              <a:endCxn id="17" idx="7"/>
            </p:cNvCxnSpPr>
            <p:nvPr/>
          </p:nvCxnSpPr>
          <p:spPr>
            <a:xfrm flipH="1">
              <a:off x="5607974" y="2931160"/>
              <a:ext cx="392776" cy="2039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164">
              <a:extLst>
                <a:ext uri="{FF2B5EF4-FFF2-40B4-BE49-F238E27FC236}">
                  <a16:creationId xmlns:a16="http://schemas.microsoft.com/office/drawing/2014/main" id="{816F2B59-97D0-4CB4-86A8-210E85B967A0}"/>
                </a:ext>
              </a:extLst>
            </p:cNvPr>
            <p:cNvCxnSpPr>
              <a:cxnSpLocks/>
              <a:stCxn id="17" idx="3"/>
              <a:endCxn id="18" idx="7"/>
            </p:cNvCxnSpPr>
            <p:nvPr/>
          </p:nvCxnSpPr>
          <p:spPr>
            <a:xfrm flipH="1">
              <a:off x="5379374" y="3167431"/>
              <a:ext cx="196271" cy="1772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171">
              <a:extLst>
                <a:ext uri="{FF2B5EF4-FFF2-40B4-BE49-F238E27FC236}">
                  <a16:creationId xmlns:a16="http://schemas.microsoft.com/office/drawing/2014/main" id="{15E779CA-4194-49D7-8DA7-C3BAC01702E1}"/>
                </a:ext>
              </a:extLst>
            </p:cNvPr>
            <p:cNvCxnSpPr>
              <a:stCxn id="17" idx="5"/>
              <a:endCxn id="19" idx="1"/>
            </p:cNvCxnSpPr>
            <p:nvPr/>
          </p:nvCxnSpPr>
          <p:spPr>
            <a:xfrm>
              <a:off x="5607974" y="3167431"/>
              <a:ext cx="172990" cy="2225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175">
              <a:extLst>
                <a:ext uri="{FF2B5EF4-FFF2-40B4-BE49-F238E27FC236}">
                  <a16:creationId xmlns:a16="http://schemas.microsoft.com/office/drawing/2014/main" id="{0F58292F-E7DE-4D57-A98F-557F8C7D3B30}"/>
                </a:ext>
              </a:extLst>
            </p:cNvPr>
            <p:cNvCxnSpPr>
              <a:cxnSpLocks/>
              <a:stCxn id="19" idx="3"/>
              <a:endCxn id="20" idx="7"/>
            </p:cNvCxnSpPr>
            <p:nvPr/>
          </p:nvCxnSpPr>
          <p:spPr>
            <a:xfrm flipH="1">
              <a:off x="5655812" y="3422304"/>
              <a:ext cx="125152" cy="2306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177">
              <a:extLst>
                <a:ext uri="{FF2B5EF4-FFF2-40B4-BE49-F238E27FC236}">
                  <a16:creationId xmlns:a16="http://schemas.microsoft.com/office/drawing/2014/main" id="{4D44084D-8EF8-4F98-88B4-E72247C5778E}"/>
                </a:ext>
              </a:extLst>
            </p:cNvPr>
            <p:cNvCxnSpPr>
              <a:stCxn id="20" idx="3"/>
              <a:endCxn id="28" idx="7"/>
            </p:cNvCxnSpPr>
            <p:nvPr/>
          </p:nvCxnSpPr>
          <p:spPr>
            <a:xfrm flipH="1">
              <a:off x="5500840" y="3685307"/>
              <a:ext cx="122643" cy="2268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179">
              <a:extLst>
                <a:ext uri="{FF2B5EF4-FFF2-40B4-BE49-F238E27FC236}">
                  <a16:creationId xmlns:a16="http://schemas.microsoft.com/office/drawing/2014/main" id="{E1F2F259-67A3-43D8-AD60-3D402D808118}"/>
                </a:ext>
              </a:extLst>
            </p:cNvPr>
            <p:cNvCxnSpPr>
              <a:endCxn id="29" idx="1"/>
            </p:cNvCxnSpPr>
            <p:nvPr/>
          </p:nvCxnSpPr>
          <p:spPr>
            <a:xfrm>
              <a:off x="5655812" y="3678144"/>
              <a:ext cx="125152" cy="2568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182">
              <a:extLst>
                <a:ext uri="{FF2B5EF4-FFF2-40B4-BE49-F238E27FC236}">
                  <a16:creationId xmlns:a16="http://schemas.microsoft.com/office/drawing/2014/main" id="{D0E22AC1-B9D5-4D9B-AA20-A25369188F16}"/>
                </a:ext>
              </a:extLst>
            </p:cNvPr>
            <p:cNvCxnSpPr>
              <a:stCxn id="19" idx="5"/>
              <a:endCxn id="21" idx="1"/>
            </p:cNvCxnSpPr>
            <p:nvPr/>
          </p:nvCxnSpPr>
          <p:spPr>
            <a:xfrm>
              <a:off x="5813293" y="3422304"/>
              <a:ext cx="142930" cy="2078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184">
              <a:extLst>
                <a:ext uri="{FF2B5EF4-FFF2-40B4-BE49-F238E27FC236}">
                  <a16:creationId xmlns:a16="http://schemas.microsoft.com/office/drawing/2014/main" id="{C8A9DF62-8C46-4DD3-944E-C0B98D25B089}"/>
                </a:ext>
              </a:extLst>
            </p:cNvPr>
            <p:cNvCxnSpPr>
              <a:stCxn id="16" idx="6"/>
              <a:endCxn id="22" idx="1"/>
            </p:cNvCxnSpPr>
            <p:nvPr/>
          </p:nvCxnSpPr>
          <p:spPr>
            <a:xfrm>
              <a:off x="6046469" y="2931160"/>
              <a:ext cx="436804" cy="2268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186">
              <a:extLst>
                <a:ext uri="{FF2B5EF4-FFF2-40B4-BE49-F238E27FC236}">
                  <a16:creationId xmlns:a16="http://schemas.microsoft.com/office/drawing/2014/main" id="{5ECA0419-2594-41DA-8B47-856167A38E24}"/>
                </a:ext>
              </a:extLst>
            </p:cNvPr>
            <p:cNvCxnSpPr>
              <a:cxnSpLocks/>
              <a:stCxn id="22" idx="3"/>
              <a:endCxn id="23" idx="7"/>
            </p:cNvCxnSpPr>
            <p:nvPr/>
          </p:nvCxnSpPr>
          <p:spPr>
            <a:xfrm flipH="1">
              <a:off x="6318752" y="3190290"/>
              <a:ext cx="164521" cy="1772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189">
              <a:extLst>
                <a:ext uri="{FF2B5EF4-FFF2-40B4-BE49-F238E27FC236}">
                  <a16:creationId xmlns:a16="http://schemas.microsoft.com/office/drawing/2014/main" id="{BBD0B26D-DCBF-442E-A18E-098951E5AC23}"/>
                </a:ext>
              </a:extLst>
            </p:cNvPr>
            <p:cNvCxnSpPr>
              <a:cxnSpLocks/>
              <a:stCxn id="23" idx="4"/>
              <a:endCxn id="26" idx="1"/>
            </p:cNvCxnSpPr>
            <p:nvPr/>
          </p:nvCxnSpPr>
          <p:spPr>
            <a:xfrm>
              <a:off x="6302588" y="3406535"/>
              <a:ext cx="120070" cy="2325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191">
              <a:extLst>
                <a:ext uri="{FF2B5EF4-FFF2-40B4-BE49-F238E27FC236}">
                  <a16:creationId xmlns:a16="http://schemas.microsoft.com/office/drawing/2014/main" id="{18B96EF0-99DD-4884-AC2C-8A1F7DAC6B7C}"/>
                </a:ext>
              </a:extLst>
            </p:cNvPr>
            <p:cNvCxnSpPr>
              <a:cxnSpLocks/>
              <a:stCxn id="24" idx="3"/>
              <a:endCxn id="25" idx="0"/>
            </p:cNvCxnSpPr>
            <p:nvPr/>
          </p:nvCxnSpPr>
          <p:spPr>
            <a:xfrm flipH="1">
              <a:off x="6645487" y="3376981"/>
              <a:ext cx="123535" cy="2554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193">
              <a:extLst>
                <a:ext uri="{FF2B5EF4-FFF2-40B4-BE49-F238E27FC236}">
                  <a16:creationId xmlns:a16="http://schemas.microsoft.com/office/drawing/2014/main" id="{3C4BBE0A-DCC3-43C1-9400-09D73BB82579}"/>
                </a:ext>
              </a:extLst>
            </p:cNvPr>
            <p:cNvCxnSpPr>
              <a:stCxn id="22" idx="6"/>
              <a:endCxn id="24" idx="1"/>
            </p:cNvCxnSpPr>
            <p:nvPr/>
          </p:nvCxnSpPr>
          <p:spPr>
            <a:xfrm>
              <a:off x="6522297" y="3174126"/>
              <a:ext cx="246725" cy="1705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196">
              <a:extLst>
                <a:ext uri="{FF2B5EF4-FFF2-40B4-BE49-F238E27FC236}">
                  <a16:creationId xmlns:a16="http://schemas.microsoft.com/office/drawing/2014/main" id="{8991C068-1EF3-4101-80AD-9E5FB71EB7D6}"/>
                </a:ext>
              </a:extLst>
            </p:cNvPr>
            <p:cNvCxnSpPr>
              <a:cxnSpLocks/>
              <a:stCxn id="26" idx="3"/>
              <a:endCxn id="27" idx="7"/>
            </p:cNvCxnSpPr>
            <p:nvPr/>
          </p:nvCxnSpPr>
          <p:spPr>
            <a:xfrm flipH="1">
              <a:off x="6294386" y="3671449"/>
              <a:ext cx="128272" cy="2702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矩形 210">
            <a:extLst>
              <a:ext uri="{FF2B5EF4-FFF2-40B4-BE49-F238E27FC236}">
                <a16:creationId xmlns:a16="http://schemas.microsoft.com/office/drawing/2014/main" id="{2E39FFB6-3CCC-4A29-BCFB-BEC3CB8B4E64}"/>
              </a:ext>
            </a:extLst>
          </p:cNvPr>
          <p:cNvSpPr/>
          <p:nvPr/>
        </p:nvSpPr>
        <p:spPr>
          <a:xfrm>
            <a:off x="4330795" y="2095154"/>
            <a:ext cx="13249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随机森林算法</a:t>
            </a:r>
            <a:endParaRPr 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6" name="图片 230">
            <a:extLst>
              <a:ext uri="{FF2B5EF4-FFF2-40B4-BE49-F238E27FC236}">
                <a16:creationId xmlns:a16="http://schemas.microsoft.com/office/drawing/2014/main" id="{E2AB01A4-06D2-4B6A-B392-D26313996B0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6442" y="2682036"/>
            <a:ext cx="1661173" cy="1653919"/>
          </a:xfrm>
          <a:prstGeom prst="rect">
            <a:avLst/>
          </a:prstGeom>
          <a:scene3d>
            <a:camera prst="isometricOffAxis2Top"/>
            <a:lightRig rig="balanced" dir="t"/>
          </a:scene3d>
          <a:sp3d>
            <a:bevelT/>
          </a:sp3d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36EC5F99-C82F-4305-B471-B335D9BC8B8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25053" y="2455120"/>
            <a:ext cx="2003796" cy="2021699"/>
          </a:xfrm>
          <a:prstGeom prst="rect">
            <a:avLst/>
          </a:prstGeom>
        </p:spPr>
      </p:pic>
      <p:sp>
        <p:nvSpPr>
          <p:cNvPr id="62" name="Arrow: Right 61">
            <a:extLst>
              <a:ext uri="{FF2B5EF4-FFF2-40B4-BE49-F238E27FC236}">
                <a16:creationId xmlns:a16="http://schemas.microsoft.com/office/drawing/2014/main" id="{4F766C9A-9DEF-4936-8050-AAE2E1BB0B99}"/>
              </a:ext>
            </a:extLst>
          </p:cNvPr>
          <p:cNvSpPr/>
          <p:nvPr/>
        </p:nvSpPr>
        <p:spPr>
          <a:xfrm>
            <a:off x="3217333" y="3151921"/>
            <a:ext cx="407366" cy="585517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BDAB289E-71FB-4D18-ABA5-18CE30BD7B3A}"/>
              </a:ext>
            </a:extLst>
          </p:cNvPr>
          <p:cNvSpPr/>
          <p:nvPr/>
        </p:nvSpPr>
        <p:spPr>
          <a:xfrm>
            <a:off x="6231420" y="3083966"/>
            <a:ext cx="407366" cy="585517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74B2E9D8-5DE2-4ABD-81B8-BE0386F379F8}"/>
              </a:ext>
            </a:extLst>
          </p:cNvPr>
          <p:cNvSpPr/>
          <p:nvPr/>
        </p:nvSpPr>
        <p:spPr>
          <a:xfrm>
            <a:off x="9032490" y="3083966"/>
            <a:ext cx="407366" cy="585517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矩形 210">
            <a:extLst>
              <a:ext uri="{FF2B5EF4-FFF2-40B4-BE49-F238E27FC236}">
                <a16:creationId xmlns:a16="http://schemas.microsoft.com/office/drawing/2014/main" id="{38A16986-C40E-45E0-8F3B-EFBC47789375}"/>
              </a:ext>
            </a:extLst>
          </p:cNvPr>
          <p:cNvSpPr/>
          <p:nvPr/>
        </p:nvSpPr>
        <p:spPr>
          <a:xfrm>
            <a:off x="7242039" y="2104816"/>
            <a:ext cx="13249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应用分类算法</a:t>
            </a:r>
            <a:endParaRPr 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6" name="矩形 210">
            <a:extLst>
              <a:ext uri="{FF2B5EF4-FFF2-40B4-BE49-F238E27FC236}">
                <a16:creationId xmlns:a16="http://schemas.microsoft.com/office/drawing/2014/main" id="{D2C504B3-4078-412C-99B7-750831AC206A}"/>
              </a:ext>
            </a:extLst>
          </p:cNvPr>
          <p:cNvSpPr/>
          <p:nvPr/>
        </p:nvSpPr>
        <p:spPr>
          <a:xfrm>
            <a:off x="942357" y="2074780"/>
            <a:ext cx="13249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样本点采集</a:t>
            </a:r>
            <a:endParaRPr 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7" name="矩形 210">
            <a:extLst>
              <a:ext uri="{FF2B5EF4-FFF2-40B4-BE49-F238E27FC236}">
                <a16:creationId xmlns:a16="http://schemas.microsoft.com/office/drawing/2014/main" id="{0A807C98-50B1-4A7F-BC8D-B61C7770CB03}"/>
              </a:ext>
            </a:extLst>
          </p:cNvPr>
          <p:cNvSpPr/>
          <p:nvPr/>
        </p:nvSpPr>
        <p:spPr>
          <a:xfrm>
            <a:off x="10081749" y="2052526"/>
            <a:ext cx="13249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结果</a:t>
            </a:r>
            <a:r>
              <a:rPr lang="en-US" altLang="zh-CN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后处理</a:t>
            </a:r>
            <a:endParaRPr 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4715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F58891-BF69-4AE8-99AA-1A1C8DC6CF8E}"/>
              </a:ext>
            </a:extLst>
          </p:cNvPr>
          <p:cNvSpPr/>
          <p:nvPr/>
        </p:nvSpPr>
        <p:spPr>
          <a:xfrm>
            <a:off x="188989" y="260877"/>
            <a:ext cx="2492990" cy="564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SzPct val="90000"/>
            </a:pPr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为什么要采集训练点？</a:t>
            </a:r>
            <a:endParaRPr lang="en-US" altLang="zh-CN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</p:txBody>
      </p:sp>
      <p:sp>
        <p:nvSpPr>
          <p:cNvPr id="58" name="矩形 210">
            <a:extLst>
              <a:ext uri="{FF2B5EF4-FFF2-40B4-BE49-F238E27FC236}">
                <a16:creationId xmlns:a16="http://schemas.microsoft.com/office/drawing/2014/main" id="{BA8B4F7E-66E3-4CD9-B691-1AD7C49A9904}"/>
              </a:ext>
            </a:extLst>
          </p:cNvPr>
          <p:cNvSpPr/>
          <p:nvPr/>
        </p:nvSpPr>
        <p:spPr>
          <a:xfrm>
            <a:off x="2226735" y="1434068"/>
            <a:ext cx="49614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把人的知识转换成算法的参数</a:t>
            </a:r>
            <a:endParaRPr 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" name="矩形 210">
            <a:extLst>
              <a:ext uri="{FF2B5EF4-FFF2-40B4-BE49-F238E27FC236}">
                <a16:creationId xmlns:a16="http://schemas.microsoft.com/office/drawing/2014/main" id="{7458EDAC-96DD-4F80-9451-40F181A59219}"/>
              </a:ext>
            </a:extLst>
          </p:cNvPr>
          <p:cNvSpPr/>
          <p:nvPr/>
        </p:nvSpPr>
        <p:spPr>
          <a:xfrm>
            <a:off x="2674437" y="4062022"/>
            <a:ext cx="15240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统计年鉴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" name="矩形 210">
            <a:extLst>
              <a:ext uri="{FF2B5EF4-FFF2-40B4-BE49-F238E27FC236}">
                <a16:creationId xmlns:a16="http://schemas.microsoft.com/office/drawing/2014/main" id="{45279EA6-DF5C-4A46-86F2-8A2E513EB3F8}"/>
              </a:ext>
            </a:extLst>
          </p:cNvPr>
          <p:cNvSpPr/>
          <p:nvPr/>
        </p:nvSpPr>
        <p:spPr>
          <a:xfrm>
            <a:off x="4766735" y="3508403"/>
            <a:ext cx="99906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北京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上海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重庆 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...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2" name="矩形 210">
            <a:extLst>
              <a:ext uri="{FF2B5EF4-FFF2-40B4-BE49-F238E27FC236}">
                <a16:creationId xmlns:a16="http://schemas.microsoft.com/office/drawing/2014/main" id="{17E484CD-05FD-42FD-854B-D765BE38985E}"/>
              </a:ext>
            </a:extLst>
          </p:cNvPr>
          <p:cNvSpPr/>
          <p:nvPr/>
        </p:nvSpPr>
        <p:spPr>
          <a:xfrm>
            <a:off x="4783668" y="4633381"/>
            <a:ext cx="8023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北碚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江津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广安 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..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CBDE77E8-08D2-458D-91FD-C6AF9F656D18}"/>
              </a:ext>
            </a:extLst>
          </p:cNvPr>
          <p:cNvSpPr/>
          <p:nvPr/>
        </p:nvSpPr>
        <p:spPr>
          <a:xfrm>
            <a:off x="4586981" y="3402632"/>
            <a:ext cx="999066" cy="895234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15D811E9-E12F-4833-A6A2-B54F5BB59D42}"/>
              </a:ext>
            </a:extLst>
          </p:cNvPr>
          <p:cNvSpPr/>
          <p:nvPr/>
        </p:nvSpPr>
        <p:spPr>
          <a:xfrm>
            <a:off x="4586981" y="4528698"/>
            <a:ext cx="999066" cy="895234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5BCA1C84-1158-4134-ACCA-1661F599A90D}"/>
              </a:ext>
            </a:extLst>
          </p:cNvPr>
          <p:cNvSpPr/>
          <p:nvPr/>
        </p:nvSpPr>
        <p:spPr>
          <a:xfrm>
            <a:off x="6231469" y="4109789"/>
            <a:ext cx="407366" cy="585517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7184F5C-7414-42ED-A2CC-B51D2C942B98}"/>
              </a:ext>
            </a:extLst>
          </p:cNvPr>
          <p:cNvSpPr/>
          <p:nvPr/>
        </p:nvSpPr>
        <p:spPr>
          <a:xfrm>
            <a:off x="4761745" y="2825628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知识</a:t>
            </a:r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333F3FF-0A69-4561-8DA7-CEB5B8BEBA6C}"/>
              </a:ext>
            </a:extLst>
          </p:cNvPr>
          <p:cNvSpPr/>
          <p:nvPr/>
        </p:nvSpPr>
        <p:spPr>
          <a:xfrm>
            <a:off x="7295232" y="2851751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参数</a:t>
            </a:r>
            <a:endParaRPr lang="en-US" dirty="0"/>
          </a:p>
        </p:txBody>
      </p:sp>
      <p:sp>
        <p:nvSpPr>
          <p:cNvPr id="75" name="矩形 210">
            <a:extLst>
              <a:ext uri="{FF2B5EF4-FFF2-40B4-BE49-F238E27FC236}">
                <a16:creationId xmlns:a16="http://schemas.microsoft.com/office/drawing/2014/main" id="{5A75E433-F6E4-4F6E-958C-9DE9AE4E7977}"/>
              </a:ext>
            </a:extLst>
          </p:cNvPr>
          <p:cNvSpPr/>
          <p:nvPr/>
        </p:nvSpPr>
        <p:spPr>
          <a:xfrm>
            <a:off x="7137180" y="3713090"/>
            <a:ext cx="161517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人口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&gt; 500W</a:t>
            </a:r>
          </a:p>
          <a:p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面积</a:t>
            </a:r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&gt; 1000km2</a:t>
            </a:r>
          </a:p>
          <a:p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1400" dirty="0">
                <a:latin typeface="黑体" panose="02010609060101010101" pitchFamily="49" charset="-122"/>
                <a:ea typeface="黑体" panose="02010609060101010101" pitchFamily="49" charset="-122"/>
              </a:rPr>
              <a:t>GDP &gt; 1000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亿</a:t>
            </a:r>
            <a:endParaRPr lang="en-US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B46713AD-9D7D-4CDA-8FB4-080EDF80DF29}"/>
              </a:ext>
            </a:extLst>
          </p:cNvPr>
          <p:cNvSpPr/>
          <p:nvPr/>
        </p:nvSpPr>
        <p:spPr>
          <a:xfrm>
            <a:off x="6953193" y="3559202"/>
            <a:ext cx="1647975" cy="1576062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151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F58891-BF69-4AE8-99AA-1A1C8DC6CF8E}"/>
              </a:ext>
            </a:extLst>
          </p:cNvPr>
          <p:cNvSpPr/>
          <p:nvPr/>
        </p:nvSpPr>
        <p:spPr>
          <a:xfrm>
            <a:off x="188989" y="260877"/>
            <a:ext cx="3416320" cy="564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SzPct val="90000"/>
            </a:pPr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常见的训练点采集办法和问题。</a:t>
            </a:r>
            <a:endParaRPr lang="en-US" altLang="zh-CN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</p:txBody>
      </p:sp>
      <p:grpSp>
        <p:nvGrpSpPr>
          <p:cNvPr id="15" name="组合 41">
            <a:extLst>
              <a:ext uri="{FF2B5EF4-FFF2-40B4-BE49-F238E27FC236}">
                <a16:creationId xmlns:a16="http://schemas.microsoft.com/office/drawing/2014/main" id="{A4FB5854-3639-4708-A741-4C43D79AE6D8}"/>
              </a:ext>
            </a:extLst>
          </p:cNvPr>
          <p:cNvGrpSpPr/>
          <p:nvPr/>
        </p:nvGrpSpPr>
        <p:grpSpPr>
          <a:xfrm>
            <a:off x="448108" y="1800240"/>
            <a:ext cx="6314401" cy="3787759"/>
            <a:chOff x="3332787" y="2590177"/>
            <a:chExt cx="2673615" cy="1603797"/>
          </a:xfrm>
        </p:grpSpPr>
        <p:pic>
          <p:nvPicPr>
            <p:cNvPr id="16" name="图片 335">
              <a:extLst>
                <a:ext uri="{FF2B5EF4-FFF2-40B4-BE49-F238E27FC236}">
                  <a16:creationId xmlns:a16="http://schemas.microsoft.com/office/drawing/2014/main" id="{2BC7E2E5-A733-4109-86CC-58DDF2A0CA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32787" y="2590177"/>
              <a:ext cx="1539441" cy="1603797"/>
            </a:xfrm>
            <a:prstGeom prst="rect">
              <a:avLst/>
            </a:prstGeom>
          </p:spPr>
        </p:pic>
        <p:cxnSp>
          <p:nvCxnSpPr>
            <p:cNvPr id="17" name="直接连接符 336">
              <a:extLst>
                <a:ext uri="{FF2B5EF4-FFF2-40B4-BE49-F238E27FC236}">
                  <a16:creationId xmlns:a16="http://schemas.microsoft.com/office/drawing/2014/main" id="{DAAB4642-6142-48AD-9858-FC914D610273}"/>
                </a:ext>
              </a:extLst>
            </p:cNvPr>
            <p:cNvCxnSpPr>
              <a:cxnSpLocks/>
            </p:cNvCxnSpPr>
            <p:nvPr/>
          </p:nvCxnSpPr>
          <p:spPr>
            <a:xfrm>
              <a:off x="3959699" y="2775835"/>
              <a:ext cx="0" cy="9320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337">
              <a:extLst>
                <a:ext uri="{FF2B5EF4-FFF2-40B4-BE49-F238E27FC236}">
                  <a16:creationId xmlns:a16="http://schemas.microsoft.com/office/drawing/2014/main" id="{E0DFE48D-0F04-4E87-9583-846600E1C95A}"/>
                </a:ext>
              </a:extLst>
            </p:cNvPr>
            <p:cNvCxnSpPr>
              <a:cxnSpLocks/>
            </p:cNvCxnSpPr>
            <p:nvPr/>
          </p:nvCxnSpPr>
          <p:spPr>
            <a:xfrm>
              <a:off x="3850251" y="2775835"/>
              <a:ext cx="0" cy="10995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338">
              <a:extLst>
                <a:ext uri="{FF2B5EF4-FFF2-40B4-BE49-F238E27FC236}">
                  <a16:creationId xmlns:a16="http://schemas.microsoft.com/office/drawing/2014/main" id="{6507B45E-B4E2-4388-93A9-54D242C54637}"/>
                </a:ext>
              </a:extLst>
            </p:cNvPr>
            <p:cNvCxnSpPr>
              <a:cxnSpLocks/>
            </p:cNvCxnSpPr>
            <p:nvPr/>
          </p:nvCxnSpPr>
          <p:spPr>
            <a:xfrm>
              <a:off x="4413453" y="2775835"/>
              <a:ext cx="0" cy="7473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339">
              <a:extLst>
                <a:ext uri="{FF2B5EF4-FFF2-40B4-BE49-F238E27FC236}">
                  <a16:creationId xmlns:a16="http://schemas.microsoft.com/office/drawing/2014/main" id="{B109C159-3938-4109-9F2E-4ECB23BC59F3}"/>
                </a:ext>
              </a:extLst>
            </p:cNvPr>
            <p:cNvCxnSpPr>
              <a:cxnSpLocks/>
            </p:cNvCxnSpPr>
            <p:nvPr/>
          </p:nvCxnSpPr>
          <p:spPr>
            <a:xfrm>
              <a:off x="4216218" y="2775835"/>
              <a:ext cx="0" cy="11335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340">
              <a:extLst>
                <a:ext uri="{FF2B5EF4-FFF2-40B4-BE49-F238E27FC236}">
                  <a16:creationId xmlns:a16="http://schemas.microsoft.com/office/drawing/2014/main" id="{2682B0A8-B8C3-4CFE-ABC9-8CE5A0340048}"/>
                </a:ext>
              </a:extLst>
            </p:cNvPr>
            <p:cNvCxnSpPr>
              <a:cxnSpLocks/>
            </p:cNvCxnSpPr>
            <p:nvPr/>
          </p:nvCxnSpPr>
          <p:spPr>
            <a:xfrm>
              <a:off x="3850251" y="2775835"/>
              <a:ext cx="15885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流程图: 磁盘 377">
              <a:extLst>
                <a:ext uri="{FF2B5EF4-FFF2-40B4-BE49-F238E27FC236}">
                  <a16:creationId xmlns:a16="http://schemas.microsoft.com/office/drawing/2014/main" id="{77248B2F-07DC-4440-922D-222761E03794}"/>
                </a:ext>
              </a:extLst>
            </p:cNvPr>
            <p:cNvSpPr/>
            <p:nvPr/>
          </p:nvSpPr>
          <p:spPr>
            <a:xfrm>
              <a:off x="4994212" y="3366137"/>
              <a:ext cx="1012190" cy="502920"/>
            </a:xfrm>
            <a:prstGeom prst="flowChartMagneticDisk">
              <a:avLst/>
            </a:prstGeom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solidFill>
                <a:schemeClr val="tx1">
                  <a:lumMod val="65000"/>
                  <a:lumOff val="3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文本框 47">
              <a:extLst>
                <a:ext uri="{FF2B5EF4-FFF2-40B4-BE49-F238E27FC236}">
                  <a16:creationId xmlns:a16="http://schemas.microsoft.com/office/drawing/2014/main" id="{C253E503-DC7E-493A-B39A-DB533F784733}"/>
                </a:ext>
              </a:extLst>
            </p:cNvPr>
            <p:cNvSpPr txBox="1"/>
            <p:nvPr/>
          </p:nvSpPr>
          <p:spPr>
            <a:xfrm>
              <a:off x="4998825" y="3716280"/>
              <a:ext cx="1002937" cy="3327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algn="ctr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800" kern="100" dirty="0">
                  <a:effectLst/>
                  <a:latin typeface="黑体" panose="02010609060101010101" pitchFamily="49" charset="-122"/>
                  <a:ea typeface="黑体" panose="02010609060101010101" pitchFamily="49" charset="-122"/>
                  <a:cs typeface="宋体" panose="02010600030101010101" pitchFamily="2" charset="-122"/>
                </a:rPr>
                <a:t>Samples</a:t>
              </a:r>
              <a:endParaRPr lang="en-US" sz="28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endParaRPr>
            </a:p>
          </p:txBody>
        </p:sp>
        <p:cxnSp>
          <p:nvCxnSpPr>
            <p:cNvPr id="24" name="直接连接符 341">
              <a:extLst>
                <a:ext uri="{FF2B5EF4-FFF2-40B4-BE49-F238E27FC236}">
                  <a16:creationId xmlns:a16="http://schemas.microsoft.com/office/drawing/2014/main" id="{EE8199E3-BAE3-4303-940A-35B710DCCB65}"/>
                </a:ext>
              </a:extLst>
            </p:cNvPr>
            <p:cNvCxnSpPr>
              <a:cxnSpLocks/>
            </p:cNvCxnSpPr>
            <p:nvPr/>
          </p:nvCxnSpPr>
          <p:spPr>
            <a:xfrm>
              <a:off x="5438775" y="2775835"/>
              <a:ext cx="0" cy="6162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矩形 210">
            <a:extLst>
              <a:ext uri="{FF2B5EF4-FFF2-40B4-BE49-F238E27FC236}">
                <a16:creationId xmlns:a16="http://schemas.microsoft.com/office/drawing/2014/main" id="{BE52A216-C34B-42DF-98FB-FEE44DDFA03E}"/>
              </a:ext>
            </a:extLst>
          </p:cNvPr>
          <p:cNvSpPr/>
          <p:nvPr/>
        </p:nvSpPr>
        <p:spPr>
          <a:xfrm>
            <a:off x="8219083" y="2545061"/>
            <a:ext cx="2562163" cy="2175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随机采样</a:t>
            </a:r>
            <a:endParaRPr lang="en-US" altLang="zh-CN" sz="2400" b="1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分层采样</a:t>
            </a:r>
            <a:endParaRPr lang="en-US" altLang="zh-CN" sz="2400" b="1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目视选点</a:t>
            </a:r>
            <a:endParaRPr 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15630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F58891-BF69-4AE8-99AA-1A1C8DC6CF8E}"/>
              </a:ext>
            </a:extLst>
          </p:cNvPr>
          <p:cNvSpPr/>
          <p:nvPr/>
        </p:nvSpPr>
        <p:spPr>
          <a:xfrm>
            <a:off x="188989" y="260877"/>
            <a:ext cx="3416320" cy="564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SzPct val="90000"/>
            </a:pPr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常见的训练点采集办法和问题。</a:t>
            </a:r>
            <a:endParaRPr lang="en-US" altLang="zh-CN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</p:txBody>
      </p:sp>
      <p:sp>
        <p:nvSpPr>
          <p:cNvPr id="26" name="矩形 210">
            <a:extLst>
              <a:ext uri="{FF2B5EF4-FFF2-40B4-BE49-F238E27FC236}">
                <a16:creationId xmlns:a16="http://schemas.microsoft.com/office/drawing/2014/main" id="{BE52A216-C34B-42DF-98FB-FEE44DDFA03E}"/>
              </a:ext>
            </a:extLst>
          </p:cNvPr>
          <p:cNvSpPr/>
          <p:nvPr/>
        </p:nvSpPr>
        <p:spPr>
          <a:xfrm>
            <a:off x="787482" y="1596794"/>
            <a:ext cx="1851216" cy="698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随机采样</a:t>
            </a:r>
            <a:endParaRPr lang="en-US" altLang="zh-CN" sz="2400" b="1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1F7D07-B310-4AC9-ACDA-8624712D010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2443" y="3066722"/>
            <a:ext cx="3185437" cy="1896021"/>
          </a:xfrm>
          <a:prstGeom prst="rect">
            <a:avLst/>
          </a:prstGeom>
        </p:spPr>
      </p:pic>
      <p:sp>
        <p:nvSpPr>
          <p:cNvPr id="25" name="矩形 210">
            <a:extLst>
              <a:ext uri="{FF2B5EF4-FFF2-40B4-BE49-F238E27FC236}">
                <a16:creationId xmlns:a16="http://schemas.microsoft.com/office/drawing/2014/main" id="{CEEC152D-1CBC-42A3-9E02-33A20FF211BF}"/>
              </a:ext>
            </a:extLst>
          </p:cNvPr>
          <p:cNvSpPr/>
          <p:nvPr/>
        </p:nvSpPr>
        <p:spPr>
          <a:xfrm>
            <a:off x="4448948" y="2601626"/>
            <a:ext cx="2838384" cy="1654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为什么要分层采样？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分层采样的问题是什么？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怎样解决遇到的问题？</a:t>
            </a:r>
            <a:endParaRPr 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28" name="Picture 4" descr="重庆市行政区划图、地图、概况、简介、旅游景点、风景图片、交通、美食小吃等详细介绍">
            <a:extLst>
              <a:ext uri="{FF2B5EF4-FFF2-40B4-BE49-F238E27FC236}">
                <a16:creationId xmlns:a16="http://schemas.microsoft.com/office/drawing/2014/main" id="{FB0861F0-05B7-4707-94DE-568EBDA79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6635" y="2295062"/>
            <a:ext cx="2953950" cy="251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D61311-2A70-40A2-A391-B435F5071456}"/>
              </a:ext>
            </a:extLst>
          </p:cNvPr>
          <p:cNvSpPr/>
          <p:nvPr/>
        </p:nvSpPr>
        <p:spPr>
          <a:xfrm>
            <a:off x="9118376" y="1822993"/>
            <a:ext cx="18004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提取重庆市建设用地</a:t>
            </a:r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0703B4-477A-4FAA-9BD4-5E9A92BBCF32}"/>
              </a:ext>
            </a:extLst>
          </p:cNvPr>
          <p:cNvSpPr/>
          <p:nvPr/>
        </p:nvSpPr>
        <p:spPr>
          <a:xfrm>
            <a:off x="8595381" y="1664526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/>
              <a:t>？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36666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F58891-BF69-4AE8-99AA-1A1C8DC6CF8E}"/>
              </a:ext>
            </a:extLst>
          </p:cNvPr>
          <p:cNvSpPr/>
          <p:nvPr/>
        </p:nvSpPr>
        <p:spPr>
          <a:xfrm>
            <a:off x="188989" y="260877"/>
            <a:ext cx="3416320" cy="564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SzPct val="90000"/>
            </a:pPr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常见的训练点采集办法和问题。</a:t>
            </a:r>
            <a:endParaRPr lang="en-US" altLang="zh-CN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</p:txBody>
      </p:sp>
      <p:sp>
        <p:nvSpPr>
          <p:cNvPr id="26" name="矩形 210">
            <a:extLst>
              <a:ext uri="{FF2B5EF4-FFF2-40B4-BE49-F238E27FC236}">
                <a16:creationId xmlns:a16="http://schemas.microsoft.com/office/drawing/2014/main" id="{BE52A216-C34B-42DF-98FB-FEE44DDFA03E}"/>
              </a:ext>
            </a:extLst>
          </p:cNvPr>
          <p:cNvSpPr/>
          <p:nvPr/>
        </p:nvSpPr>
        <p:spPr>
          <a:xfrm>
            <a:off x="787481" y="1596794"/>
            <a:ext cx="2562163" cy="698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目视采样</a:t>
            </a:r>
            <a:endParaRPr lang="en-US" altLang="zh-CN" sz="2400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1F7D07-B310-4AC9-ACDA-8624712D010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2443" y="3066722"/>
            <a:ext cx="3185437" cy="1896021"/>
          </a:xfrm>
          <a:prstGeom prst="rect">
            <a:avLst/>
          </a:prstGeom>
        </p:spPr>
      </p:pic>
      <p:sp>
        <p:nvSpPr>
          <p:cNvPr id="25" name="矩形 210">
            <a:extLst>
              <a:ext uri="{FF2B5EF4-FFF2-40B4-BE49-F238E27FC236}">
                <a16:creationId xmlns:a16="http://schemas.microsoft.com/office/drawing/2014/main" id="{CEEC152D-1CBC-42A3-9E02-33A20FF211BF}"/>
              </a:ext>
            </a:extLst>
          </p:cNvPr>
          <p:cNvSpPr/>
          <p:nvPr/>
        </p:nvSpPr>
        <p:spPr>
          <a:xfrm>
            <a:off x="4573534" y="3065952"/>
            <a:ext cx="2838384" cy="1100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为什么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不要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目视选点？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目视选点的问题是什么？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D61311-2A70-40A2-A391-B435F5071456}"/>
              </a:ext>
            </a:extLst>
          </p:cNvPr>
          <p:cNvSpPr/>
          <p:nvPr/>
        </p:nvSpPr>
        <p:spPr>
          <a:xfrm>
            <a:off x="9169175" y="1755261"/>
            <a:ext cx="18004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提取重庆市建设用地</a:t>
            </a:r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0703B4-477A-4FAA-9BD4-5E9A92BBCF32}"/>
              </a:ext>
            </a:extLst>
          </p:cNvPr>
          <p:cNvSpPr/>
          <p:nvPr/>
        </p:nvSpPr>
        <p:spPr>
          <a:xfrm>
            <a:off x="8646180" y="1596794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/>
              <a:t>？</a:t>
            </a:r>
            <a:endParaRPr lang="en-US"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0A533E-E003-45FD-973D-93223C730934}"/>
              </a:ext>
            </a:extLst>
          </p:cNvPr>
          <p:cNvSpPr/>
          <p:nvPr/>
        </p:nvSpPr>
        <p:spPr>
          <a:xfrm>
            <a:off x="5034002" y="5254341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空间相关性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BB9B0B-F2FB-4CE0-8042-4947848A72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40795" y="2435500"/>
            <a:ext cx="3334550" cy="282570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5386217A-6C01-4F96-861F-654205DC3C9A}"/>
              </a:ext>
            </a:extLst>
          </p:cNvPr>
          <p:cNvSpPr/>
          <p:nvPr/>
        </p:nvSpPr>
        <p:spPr>
          <a:xfrm>
            <a:off x="9474852" y="3796937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6D2B7AF-89B4-4F51-B4CF-0569086464F2}"/>
              </a:ext>
            </a:extLst>
          </p:cNvPr>
          <p:cNvSpPr/>
          <p:nvPr/>
        </p:nvSpPr>
        <p:spPr>
          <a:xfrm>
            <a:off x="9555745" y="3744612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AA3FCA9-05E1-4B51-A468-FC3DA63D7E0E}"/>
              </a:ext>
            </a:extLst>
          </p:cNvPr>
          <p:cNvSpPr/>
          <p:nvPr/>
        </p:nvSpPr>
        <p:spPr>
          <a:xfrm>
            <a:off x="9422527" y="3648424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8301733-6C66-40FE-B40E-6240E5CB12B8}"/>
              </a:ext>
            </a:extLst>
          </p:cNvPr>
          <p:cNvSpPr/>
          <p:nvPr/>
        </p:nvSpPr>
        <p:spPr>
          <a:xfrm>
            <a:off x="9334051" y="3759665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2C33ABD-1A78-42A8-9892-71D06C33CA04}"/>
              </a:ext>
            </a:extLst>
          </p:cNvPr>
          <p:cNvSpPr/>
          <p:nvPr/>
        </p:nvSpPr>
        <p:spPr>
          <a:xfrm>
            <a:off x="9307888" y="4014732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9D09862-5EE9-4CDF-A0B6-C34CDF8DCD3D}"/>
              </a:ext>
            </a:extLst>
          </p:cNvPr>
          <p:cNvSpPr/>
          <p:nvPr/>
        </p:nvSpPr>
        <p:spPr>
          <a:xfrm>
            <a:off x="8336950" y="3848353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BFE5CC1-8122-4106-8045-98153A9F86B0}"/>
              </a:ext>
            </a:extLst>
          </p:cNvPr>
          <p:cNvSpPr/>
          <p:nvPr/>
        </p:nvSpPr>
        <p:spPr>
          <a:xfrm>
            <a:off x="8519830" y="4605998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A2C831A-A21A-4842-AEBD-CC573B01379A}"/>
              </a:ext>
            </a:extLst>
          </p:cNvPr>
          <p:cNvSpPr/>
          <p:nvPr/>
        </p:nvSpPr>
        <p:spPr>
          <a:xfrm>
            <a:off x="9258410" y="4413356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ED77F36-6B00-4686-B27B-0192BA597170}"/>
              </a:ext>
            </a:extLst>
          </p:cNvPr>
          <p:cNvSpPr/>
          <p:nvPr/>
        </p:nvSpPr>
        <p:spPr>
          <a:xfrm>
            <a:off x="9493468" y="4169399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238A7F9-B175-458C-9FAC-A0C96E59BA6A}"/>
              </a:ext>
            </a:extLst>
          </p:cNvPr>
          <p:cNvSpPr/>
          <p:nvPr/>
        </p:nvSpPr>
        <p:spPr>
          <a:xfrm>
            <a:off x="10017096" y="4221724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45FF64F-3295-479D-8143-0C542EC3CE72}"/>
              </a:ext>
            </a:extLst>
          </p:cNvPr>
          <p:cNvSpPr/>
          <p:nvPr/>
        </p:nvSpPr>
        <p:spPr>
          <a:xfrm>
            <a:off x="9808091" y="3428999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7288B25-8B59-4198-AE22-8B1FF626E4EF}"/>
              </a:ext>
            </a:extLst>
          </p:cNvPr>
          <p:cNvSpPr/>
          <p:nvPr/>
        </p:nvSpPr>
        <p:spPr>
          <a:xfrm>
            <a:off x="9975793" y="3022270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ECEDA1B-71FD-4B5D-9196-79042CC54293}"/>
              </a:ext>
            </a:extLst>
          </p:cNvPr>
          <p:cNvSpPr/>
          <p:nvPr/>
        </p:nvSpPr>
        <p:spPr>
          <a:xfrm>
            <a:off x="9532855" y="2775540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1A16AB0-0B55-44FD-B228-7845C5B4F6E1}"/>
              </a:ext>
            </a:extLst>
          </p:cNvPr>
          <p:cNvSpPr/>
          <p:nvPr/>
        </p:nvSpPr>
        <p:spPr>
          <a:xfrm>
            <a:off x="9116850" y="2718714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BE56C60-2899-4A59-84D2-1AEFCF89131A}"/>
              </a:ext>
            </a:extLst>
          </p:cNvPr>
          <p:cNvSpPr/>
          <p:nvPr/>
        </p:nvSpPr>
        <p:spPr>
          <a:xfrm>
            <a:off x="10388302" y="3587860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D943B-E8F0-40B3-8851-7CB29A92C3DC}"/>
              </a:ext>
            </a:extLst>
          </p:cNvPr>
          <p:cNvSpPr/>
          <p:nvPr/>
        </p:nvSpPr>
        <p:spPr>
          <a:xfrm>
            <a:off x="9732467" y="4067057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CF7F475-E8C7-42DB-B6C6-0EA8859A3CC8}"/>
              </a:ext>
            </a:extLst>
          </p:cNvPr>
          <p:cNvSpPr/>
          <p:nvPr/>
        </p:nvSpPr>
        <p:spPr>
          <a:xfrm>
            <a:off x="9215876" y="4291006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1119456-3EF9-42E8-A1DF-CF1AB49E994A}"/>
              </a:ext>
            </a:extLst>
          </p:cNvPr>
          <p:cNvSpPr/>
          <p:nvPr/>
        </p:nvSpPr>
        <p:spPr>
          <a:xfrm>
            <a:off x="8724018" y="3873909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99A3F20-99CA-4DDB-99E3-DA7CDCC694D1}"/>
              </a:ext>
            </a:extLst>
          </p:cNvPr>
          <p:cNvSpPr/>
          <p:nvPr/>
        </p:nvSpPr>
        <p:spPr>
          <a:xfrm>
            <a:off x="8363112" y="4317168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41462CB-9323-4AD3-9A87-7E7E5C54E8BC}"/>
              </a:ext>
            </a:extLst>
          </p:cNvPr>
          <p:cNvSpPr/>
          <p:nvPr/>
        </p:nvSpPr>
        <p:spPr>
          <a:xfrm>
            <a:off x="8733705" y="5126793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7FCE114-9160-42B6-948E-E1403F304360}"/>
              </a:ext>
            </a:extLst>
          </p:cNvPr>
          <p:cNvSpPr/>
          <p:nvPr/>
        </p:nvSpPr>
        <p:spPr>
          <a:xfrm>
            <a:off x="8935188" y="4140541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C1BB25D-025A-40F8-8610-FC366ABF0EF1}"/>
              </a:ext>
            </a:extLst>
          </p:cNvPr>
          <p:cNvSpPr/>
          <p:nvPr/>
        </p:nvSpPr>
        <p:spPr>
          <a:xfrm>
            <a:off x="9467305" y="4689139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20F16A7-440A-443E-818B-DD2B854B6257}"/>
              </a:ext>
            </a:extLst>
          </p:cNvPr>
          <p:cNvSpPr/>
          <p:nvPr/>
        </p:nvSpPr>
        <p:spPr>
          <a:xfrm>
            <a:off x="9448689" y="4050404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076EE7C-7B5F-4C9C-83DF-0BE02F095948}"/>
              </a:ext>
            </a:extLst>
          </p:cNvPr>
          <p:cNvSpPr/>
          <p:nvPr/>
        </p:nvSpPr>
        <p:spPr>
          <a:xfrm>
            <a:off x="9920944" y="3266970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F55D2F5-0995-4205-96DB-4E6A7C75FBF1}"/>
              </a:ext>
            </a:extLst>
          </p:cNvPr>
          <p:cNvSpPr/>
          <p:nvPr/>
        </p:nvSpPr>
        <p:spPr>
          <a:xfrm>
            <a:off x="9995436" y="4283187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F38FFAF-147F-43AE-A1C0-2944926A2162}"/>
              </a:ext>
            </a:extLst>
          </p:cNvPr>
          <p:cNvSpPr/>
          <p:nvPr/>
        </p:nvSpPr>
        <p:spPr>
          <a:xfrm>
            <a:off x="9264143" y="3895894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8EE1B6A-5F3D-4C8B-A60C-C36500E0AE75}"/>
              </a:ext>
            </a:extLst>
          </p:cNvPr>
          <p:cNvSpPr/>
          <p:nvPr/>
        </p:nvSpPr>
        <p:spPr>
          <a:xfrm>
            <a:off x="9163551" y="2692551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B72E95F-802A-4699-9443-F4BE0C98DB9E}"/>
              </a:ext>
            </a:extLst>
          </p:cNvPr>
          <p:cNvSpPr/>
          <p:nvPr/>
        </p:nvSpPr>
        <p:spPr>
          <a:xfrm>
            <a:off x="9673467" y="3810847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1C85125-A4BD-45B0-ACFA-F9ED2397AA16}"/>
              </a:ext>
            </a:extLst>
          </p:cNvPr>
          <p:cNvSpPr/>
          <p:nvPr/>
        </p:nvSpPr>
        <p:spPr>
          <a:xfrm>
            <a:off x="9516124" y="4387193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F03E882-9077-4522-B6DE-A88899EC4BF4}"/>
              </a:ext>
            </a:extLst>
          </p:cNvPr>
          <p:cNvSpPr/>
          <p:nvPr/>
        </p:nvSpPr>
        <p:spPr>
          <a:xfrm>
            <a:off x="9264143" y="4962743"/>
            <a:ext cx="52325" cy="5232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AA1A299-342D-47D5-B2F6-CB75913EC951}"/>
              </a:ext>
            </a:extLst>
          </p:cNvPr>
          <p:cNvSpPr/>
          <p:nvPr/>
        </p:nvSpPr>
        <p:spPr>
          <a:xfrm>
            <a:off x="10440627" y="4553673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08E2CB8-3377-4F4E-B26A-AD77146AD924}"/>
              </a:ext>
            </a:extLst>
          </p:cNvPr>
          <p:cNvSpPr/>
          <p:nvPr/>
        </p:nvSpPr>
        <p:spPr>
          <a:xfrm>
            <a:off x="10732727" y="4221724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2841C80-DA36-437B-8974-3FF9C908385D}"/>
              </a:ext>
            </a:extLst>
          </p:cNvPr>
          <p:cNvSpPr/>
          <p:nvPr/>
        </p:nvSpPr>
        <p:spPr>
          <a:xfrm>
            <a:off x="10715666" y="4527510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0982D33-48B3-45F7-811B-88A6AF1DDCD4}"/>
              </a:ext>
            </a:extLst>
          </p:cNvPr>
          <p:cNvSpPr/>
          <p:nvPr/>
        </p:nvSpPr>
        <p:spPr>
          <a:xfrm>
            <a:off x="9439533" y="3154846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968FBEC-3B2C-43E4-902B-1EBDAFFFBDCF}"/>
              </a:ext>
            </a:extLst>
          </p:cNvPr>
          <p:cNvSpPr/>
          <p:nvPr/>
        </p:nvSpPr>
        <p:spPr>
          <a:xfrm>
            <a:off x="8545992" y="2878624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FCC99F8-5621-49CE-A864-40D439CF2D9A}"/>
              </a:ext>
            </a:extLst>
          </p:cNvPr>
          <p:cNvSpPr/>
          <p:nvPr/>
        </p:nvSpPr>
        <p:spPr>
          <a:xfrm>
            <a:off x="8322379" y="3350172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A7F7C7A-FD87-429E-AD43-4B071A520AA7}"/>
              </a:ext>
            </a:extLst>
          </p:cNvPr>
          <p:cNvSpPr/>
          <p:nvPr/>
        </p:nvSpPr>
        <p:spPr>
          <a:xfrm>
            <a:off x="8113904" y="3240807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3F93A58-6B25-4FBB-BBB2-AC7F00EF9969}"/>
              </a:ext>
            </a:extLst>
          </p:cNvPr>
          <p:cNvSpPr/>
          <p:nvPr/>
        </p:nvSpPr>
        <p:spPr>
          <a:xfrm>
            <a:off x="8067295" y="3948219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2ADF90D-F8BB-47DB-91F3-742068DFA4FE}"/>
              </a:ext>
            </a:extLst>
          </p:cNvPr>
          <p:cNvSpPr/>
          <p:nvPr/>
        </p:nvSpPr>
        <p:spPr>
          <a:xfrm>
            <a:off x="8151825" y="4593034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8D0CABB-4900-43F9-90EA-C477352F8E6A}"/>
              </a:ext>
            </a:extLst>
          </p:cNvPr>
          <p:cNvSpPr/>
          <p:nvPr/>
        </p:nvSpPr>
        <p:spPr>
          <a:xfrm>
            <a:off x="8124849" y="4766384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BB56EE5-0331-451C-AE25-22DF376E0209}"/>
              </a:ext>
            </a:extLst>
          </p:cNvPr>
          <p:cNvSpPr/>
          <p:nvPr/>
        </p:nvSpPr>
        <p:spPr>
          <a:xfrm>
            <a:off x="10785052" y="3022270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C6CE18F-2B3C-4276-A3C5-404305FA9F4F}"/>
              </a:ext>
            </a:extLst>
          </p:cNvPr>
          <p:cNvSpPr/>
          <p:nvPr/>
        </p:nvSpPr>
        <p:spPr>
          <a:xfrm>
            <a:off x="10292905" y="2678096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AB28A0FE-CD48-4809-A7F9-B20BF6CA62BE}"/>
              </a:ext>
            </a:extLst>
          </p:cNvPr>
          <p:cNvSpPr/>
          <p:nvPr/>
        </p:nvSpPr>
        <p:spPr>
          <a:xfrm>
            <a:off x="9732784" y="2581624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2AD40CF-7BBC-43BD-81D1-E53F93B2F216}"/>
              </a:ext>
            </a:extLst>
          </p:cNvPr>
          <p:cNvSpPr/>
          <p:nvPr/>
        </p:nvSpPr>
        <p:spPr>
          <a:xfrm>
            <a:off x="8920962" y="3063206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7BFDBC3-03D7-4AD8-B293-D4CEEF0AEAA6}"/>
              </a:ext>
            </a:extLst>
          </p:cNvPr>
          <p:cNvSpPr/>
          <p:nvPr/>
        </p:nvSpPr>
        <p:spPr>
          <a:xfrm>
            <a:off x="8831269" y="3361879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7FECBCA-0A55-401B-9E89-A8F70225BF04}"/>
              </a:ext>
            </a:extLst>
          </p:cNvPr>
          <p:cNvSpPr/>
          <p:nvPr/>
        </p:nvSpPr>
        <p:spPr>
          <a:xfrm>
            <a:off x="8454012" y="3089368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4C8F779-039D-435A-B9E0-44881870ACB6}"/>
              </a:ext>
            </a:extLst>
          </p:cNvPr>
          <p:cNvSpPr/>
          <p:nvPr/>
        </p:nvSpPr>
        <p:spPr>
          <a:xfrm>
            <a:off x="8750344" y="2640226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C7060D02-98BB-4755-8AA6-08E451BF4916}"/>
              </a:ext>
            </a:extLst>
          </p:cNvPr>
          <p:cNvSpPr/>
          <p:nvPr/>
        </p:nvSpPr>
        <p:spPr>
          <a:xfrm>
            <a:off x="10240580" y="4792546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887948B-09B8-42AB-A930-9FD3561FBFBB}"/>
              </a:ext>
            </a:extLst>
          </p:cNvPr>
          <p:cNvSpPr/>
          <p:nvPr/>
        </p:nvSpPr>
        <p:spPr>
          <a:xfrm>
            <a:off x="11019662" y="4105093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DAC9F6D-6C1E-4307-B60D-A4AC84E5076A}"/>
              </a:ext>
            </a:extLst>
          </p:cNvPr>
          <p:cNvSpPr/>
          <p:nvPr/>
        </p:nvSpPr>
        <p:spPr>
          <a:xfrm>
            <a:off x="10779498" y="3542011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1D563DB-58A6-4103-AA67-2C90C2E080BF}"/>
              </a:ext>
            </a:extLst>
          </p:cNvPr>
          <p:cNvSpPr/>
          <p:nvPr/>
        </p:nvSpPr>
        <p:spPr>
          <a:xfrm>
            <a:off x="10663341" y="2938216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9FE9810-DE78-40C1-9314-C72EF52A3E28}"/>
              </a:ext>
            </a:extLst>
          </p:cNvPr>
          <p:cNvSpPr/>
          <p:nvPr/>
        </p:nvSpPr>
        <p:spPr>
          <a:xfrm>
            <a:off x="10863856" y="2678095"/>
            <a:ext cx="52325" cy="5232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13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F58891-BF69-4AE8-99AA-1A1C8DC6CF8E}"/>
              </a:ext>
            </a:extLst>
          </p:cNvPr>
          <p:cNvSpPr/>
          <p:nvPr/>
        </p:nvSpPr>
        <p:spPr>
          <a:xfrm>
            <a:off x="188989" y="260877"/>
            <a:ext cx="3416320" cy="564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SzPct val="90000"/>
            </a:pPr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常见的训练点采集办法和问题。</a:t>
            </a:r>
            <a:endParaRPr lang="en-US" altLang="zh-CN" kern="0" dirty="0">
              <a:solidFill>
                <a:srgbClr val="189040"/>
              </a:solidFill>
              <a:ea typeface="黑体" panose="02010600030101010101" charset="-122"/>
              <a:cs typeface="+mn-ea"/>
            </a:endParaRPr>
          </a:p>
        </p:txBody>
      </p:sp>
      <p:sp>
        <p:nvSpPr>
          <p:cNvPr id="64" name="矩形 210">
            <a:extLst>
              <a:ext uri="{FF2B5EF4-FFF2-40B4-BE49-F238E27FC236}">
                <a16:creationId xmlns:a16="http://schemas.microsoft.com/office/drawing/2014/main" id="{23301B59-2634-426B-910E-73BAEC9CBC8F}"/>
              </a:ext>
            </a:extLst>
          </p:cNvPr>
          <p:cNvSpPr/>
          <p:nvPr/>
        </p:nvSpPr>
        <p:spPr>
          <a:xfrm>
            <a:off x="1043147" y="2883728"/>
            <a:ext cx="2055654" cy="698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共性问题</a:t>
            </a:r>
            <a:endParaRPr lang="en-US" altLang="zh-CN" sz="2400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6" name="矩形 210">
            <a:extLst>
              <a:ext uri="{FF2B5EF4-FFF2-40B4-BE49-F238E27FC236}">
                <a16:creationId xmlns:a16="http://schemas.microsoft.com/office/drawing/2014/main" id="{66F12F77-B1D0-44E7-B960-003D05F83702}"/>
              </a:ext>
            </a:extLst>
          </p:cNvPr>
          <p:cNvSpPr/>
          <p:nvPr/>
        </p:nvSpPr>
        <p:spPr>
          <a:xfrm>
            <a:off x="3435976" y="2682485"/>
            <a:ext cx="2838384" cy="1100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多少训练点是足够的？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不同地类的选练点比例？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4534996-379E-428F-8A9D-7CD61E850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22387" y="825134"/>
            <a:ext cx="3766468" cy="2507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17DCDAD-E529-43C5-9D4C-F2DEB3EA7C52}"/>
              </a:ext>
            </a:extLst>
          </p:cNvPr>
          <p:cNvSpPr/>
          <p:nvPr/>
        </p:nvSpPr>
        <p:spPr>
          <a:xfrm>
            <a:off x="8705621" y="173154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8K</a:t>
            </a:r>
            <a:endParaRPr lang="en-US" b="1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09AE155-BEA5-4A4C-B875-AD900618A90D}"/>
              </a:ext>
            </a:extLst>
          </p:cNvPr>
          <p:cNvSpPr/>
          <p:nvPr/>
        </p:nvSpPr>
        <p:spPr>
          <a:xfrm>
            <a:off x="7127187" y="4301943"/>
            <a:ext cx="2492990" cy="8758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建设用地：非建设用地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en-US" altLang="zh-CN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:4</a:t>
            </a:r>
            <a:r>
              <a:rPr lang="en-US" altLang="zh-CN" b="1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22529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83B410B-0B89-4451-99EA-CD819DFEB532}"/>
              </a:ext>
            </a:extLst>
          </p:cNvPr>
          <p:cNvSpPr/>
          <p:nvPr/>
        </p:nvSpPr>
        <p:spPr>
          <a:xfrm>
            <a:off x="3618441" y="2170498"/>
            <a:ext cx="4955117" cy="2198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SzPct val="90000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我们研究的特点，困难和办法。</a:t>
            </a:r>
          </a:p>
          <a:p>
            <a:pPr>
              <a:lnSpc>
                <a:spcPct val="200000"/>
              </a:lnSpc>
              <a:buSzPct val="90000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具体的训练点采集方法。</a:t>
            </a:r>
          </a:p>
          <a:p>
            <a:pPr>
              <a:lnSpc>
                <a:spcPct val="200000"/>
              </a:lnSpc>
              <a:buSzPct val="90000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我们训练点采集办法的潜在问题。</a:t>
            </a:r>
          </a:p>
        </p:txBody>
      </p:sp>
    </p:spTree>
    <p:extLst>
      <p:ext uri="{BB962C8B-B14F-4D97-AF65-F5344CB8AC3E}">
        <p14:creationId xmlns:p14="http://schemas.microsoft.com/office/powerpoint/2010/main" val="3400657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C1C3D7-C9EE-456C-BAA2-53335642B389}"/>
              </a:ext>
            </a:extLst>
          </p:cNvPr>
          <p:cNvSpPr/>
          <p:nvPr/>
        </p:nvSpPr>
        <p:spPr>
          <a:xfrm>
            <a:off x="188989" y="260877"/>
            <a:ext cx="3185487" cy="564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SzPct val="90000"/>
            </a:pPr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我们研究的特点，困难和办法</a:t>
            </a:r>
          </a:p>
        </p:txBody>
      </p:sp>
      <p:sp>
        <p:nvSpPr>
          <p:cNvPr id="3" name="矩形 210">
            <a:extLst>
              <a:ext uri="{FF2B5EF4-FFF2-40B4-BE49-F238E27FC236}">
                <a16:creationId xmlns:a16="http://schemas.microsoft.com/office/drawing/2014/main" id="{8907B0F9-DDC3-442C-BAB6-7CC1F84DAB6B}"/>
              </a:ext>
            </a:extLst>
          </p:cNvPr>
          <p:cNvSpPr/>
          <p:nvPr/>
        </p:nvSpPr>
        <p:spPr>
          <a:xfrm>
            <a:off x="990972" y="3017739"/>
            <a:ext cx="1581520" cy="698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我们研究</a:t>
            </a:r>
            <a:endParaRPr lang="en-US" altLang="zh-CN" sz="2400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210">
            <a:extLst>
              <a:ext uri="{FF2B5EF4-FFF2-40B4-BE49-F238E27FC236}">
                <a16:creationId xmlns:a16="http://schemas.microsoft.com/office/drawing/2014/main" id="{330A250C-7BE0-4A18-9FBF-EEE008D40873}"/>
              </a:ext>
            </a:extLst>
          </p:cNvPr>
          <p:cNvSpPr/>
          <p:nvPr/>
        </p:nvSpPr>
        <p:spPr>
          <a:xfrm>
            <a:off x="2961843" y="2539499"/>
            <a:ext cx="3134157" cy="1654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只有建设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非建设用地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研究区域是全中国。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时间跨度是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1990-2019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210">
            <a:extLst>
              <a:ext uri="{FF2B5EF4-FFF2-40B4-BE49-F238E27FC236}">
                <a16:creationId xmlns:a16="http://schemas.microsoft.com/office/drawing/2014/main" id="{98AF9058-BD6D-4929-9CF8-6E0789E88E52}"/>
              </a:ext>
            </a:extLst>
          </p:cNvPr>
          <p:cNvSpPr/>
          <p:nvPr/>
        </p:nvSpPr>
        <p:spPr>
          <a:xfrm>
            <a:off x="6687175" y="2601626"/>
            <a:ext cx="4827492" cy="1654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中国全境的区域大，数据量大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早期缺乏高清图像用来目视判定训练点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对每一年都进行训练点采集工作量巨大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77B09F-DA63-477D-8B61-247595F274AB}"/>
              </a:ext>
            </a:extLst>
          </p:cNvPr>
          <p:cNvSpPr/>
          <p:nvPr/>
        </p:nvSpPr>
        <p:spPr>
          <a:xfrm>
            <a:off x="2961843" y="202513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特点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1FEDB9-89D2-4486-85BB-91474293C179}"/>
              </a:ext>
            </a:extLst>
          </p:cNvPr>
          <p:cNvSpPr/>
          <p:nvPr/>
        </p:nvSpPr>
        <p:spPr>
          <a:xfrm>
            <a:off x="6687176" y="202513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困难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225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C1C3D7-C9EE-456C-BAA2-53335642B389}"/>
              </a:ext>
            </a:extLst>
          </p:cNvPr>
          <p:cNvSpPr/>
          <p:nvPr/>
        </p:nvSpPr>
        <p:spPr>
          <a:xfrm>
            <a:off x="188989" y="260877"/>
            <a:ext cx="3185487" cy="564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SzPct val="90000"/>
            </a:pPr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我们研究的特点，困难和办法</a:t>
            </a:r>
          </a:p>
        </p:txBody>
      </p:sp>
      <p:sp>
        <p:nvSpPr>
          <p:cNvPr id="3" name="矩形 210">
            <a:extLst>
              <a:ext uri="{FF2B5EF4-FFF2-40B4-BE49-F238E27FC236}">
                <a16:creationId xmlns:a16="http://schemas.microsoft.com/office/drawing/2014/main" id="{8907B0F9-DDC3-442C-BAB6-7CC1F84DAB6B}"/>
              </a:ext>
            </a:extLst>
          </p:cNvPr>
          <p:cNvSpPr/>
          <p:nvPr/>
        </p:nvSpPr>
        <p:spPr>
          <a:xfrm>
            <a:off x="990972" y="3017739"/>
            <a:ext cx="1581520" cy="6982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我们研究</a:t>
            </a:r>
            <a:endParaRPr lang="en-US" altLang="zh-CN" sz="2400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210">
            <a:extLst>
              <a:ext uri="{FF2B5EF4-FFF2-40B4-BE49-F238E27FC236}">
                <a16:creationId xmlns:a16="http://schemas.microsoft.com/office/drawing/2014/main" id="{330A250C-7BE0-4A18-9FBF-EEE008D40873}"/>
              </a:ext>
            </a:extLst>
          </p:cNvPr>
          <p:cNvSpPr/>
          <p:nvPr/>
        </p:nvSpPr>
        <p:spPr>
          <a:xfrm>
            <a:off x="2920278" y="2227466"/>
            <a:ext cx="2122775" cy="11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20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120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只有建设</a:t>
            </a:r>
            <a:r>
              <a:rPr lang="en-US" altLang="zh-CN" sz="120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120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非建设用地</a:t>
            </a:r>
            <a:r>
              <a:rPr lang="en-US" altLang="zh-CN" sz="120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20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</a:t>
            </a:r>
            <a:endParaRPr lang="en-US" altLang="zh-CN" sz="1200" dirty="0">
              <a:solidFill>
                <a:schemeClr val="bg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20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研究区域是全中国。</a:t>
            </a:r>
            <a:endParaRPr lang="en-US" altLang="zh-CN" sz="1200" dirty="0">
              <a:solidFill>
                <a:schemeClr val="bg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20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20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时间跨度是</a:t>
            </a:r>
            <a:r>
              <a:rPr lang="en-US" altLang="zh-CN" sz="120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1990-2019</a:t>
            </a:r>
            <a:r>
              <a:rPr lang="zh-CN" altLang="en-US" sz="120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200" dirty="0">
              <a:solidFill>
                <a:schemeClr val="bg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210">
            <a:extLst>
              <a:ext uri="{FF2B5EF4-FFF2-40B4-BE49-F238E27FC236}">
                <a16:creationId xmlns:a16="http://schemas.microsoft.com/office/drawing/2014/main" id="{98AF9058-BD6D-4929-9CF8-6E0789E88E52}"/>
              </a:ext>
            </a:extLst>
          </p:cNvPr>
          <p:cNvSpPr/>
          <p:nvPr/>
        </p:nvSpPr>
        <p:spPr>
          <a:xfrm>
            <a:off x="2920278" y="4214890"/>
            <a:ext cx="2761625" cy="104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中国全境的区域大，数据量大</a:t>
            </a:r>
            <a:endParaRPr lang="en-US" altLang="zh-CN" sz="1100" dirty="0">
              <a:solidFill>
                <a:schemeClr val="bg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早期缺乏高清图像用来目视判定训练点</a:t>
            </a:r>
            <a:endParaRPr lang="en-US" altLang="zh-CN" sz="1100" dirty="0">
              <a:solidFill>
                <a:schemeClr val="bg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对每一年都进行训练点采集工作量巨大</a:t>
            </a:r>
            <a:endParaRPr lang="en-US" altLang="zh-CN" sz="1100" dirty="0">
              <a:solidFill>
                <a:schemeClr val="bg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77B09F-DA63-477D-8B61-247595F274AB}"/>
              </a:ext>
            </a:extLst>
          </p:cNvPr>
          <p:cNvSpPr/>
          <p:nvPr/>
        </p:nvSpPr>
        <p:spPr>
          <a:xfrm>
            <a:off x="2920278" y="1916122"/>
            <a:ext cx="4924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特点</a:t>
            </a:r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1FEDB9-89D2-4486-85BB-91474293C179}"/>
              </a:ext>
            </a:extLst>
          </p:cNvPr>
          <p:cNvSpPr/>
          <p:nvPr/>
        </p:nvSpPr>
        <p:spPr>
          <a:xfrm>
            <a:off x="2920279" y="3953280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1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困难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E76CBB-04E1-4DCE-A0CA-620E1DC98747}"/>
              </a:ext>
            </a:extLst>
          </p:cNvPr>
          <p:cNvSpPr/>
          <p:nvPr/>
        </p:nvSpPr>
        <p:spPr>
          <a:xfrm>
            <a:off x="6026728" y="1858134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办法</a:t>
            </a:r>
            <a:endParaRPr lang="en-US" dirty="0"/>
          </a:p>
        </p:txBody>
      </p:sp>
      <p:sp>
        <p:nvSpPr>
          <p:cNvPr id="10" name="矩形 210">
            <a:extLst>
              <a:ext uri="{FF2B5EF4-FFF2-40B4-BE49-F238E27FC236}">
                <a16:creationId xmlns:a16="http://schemas.microsoft.com/office/drawing/2014/main" id="{B32FB639-BE0D-4797-94C1-34A5180900E7}"/>
              </a:ext>
            </a:extLst>
          </p:cNvPr>
          <p:cNvSpPr/>
          <p:nvPr/>
        </p:nvSpPr>
        <p:spPr>
          <a:xfrm>
            <a:off x="6026728" y="2534057"/>
            <a:ext cx="6018957" cy="1654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GEE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处理大量的遥感数据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利用早期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Landsat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图像，以及衍生图像进行训练点判定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建设用地的特点：一旦建成便难以转变成非建设用地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9725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C1C3D7-C9EE-456C-BAA2-53335642B389}"/>
              </a:ext>
            </a:extLst>
          </p:cNvPr>
          <p:cNvSpPr/>
          <p:nvPr/>
        </p:nvSpPr>
        <p:spPr>
          <a:xfrm>
            <a:off x="188989" y="260877"/>
            <a:ext cx="3185487" cy="564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SzPct val="90000"/>
            </a:pPr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我们研究的特点，困难和办法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E76CBB-04E1-4DCE-A0CA-620E1DC98747}"/>
              </a:ext>
            </a:extLst>
          </p:cNvPr>
          <p:cNvSpPr/>
          <p:nvPr/>
        </p:nvSpPr>
        <p:spPr>
          <a:xfrm>
            <a:off x="364997" y="2024388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办法</a:t>
            </a:r>
            <a:endParaRPr lang="en-US" dirty="0"/>
          </a:p>
        </p:txBody>
      </p:sp>
      <p:sp>
        <p:nvSpPr>
          <p:cNvPr id="10" name="矩形 210">
            <a:extLst>
              <a:ext uri="{FF2B5EF4-FFF2-40B4-BE49-F238E27FC236}">
                <a16:creationId xmlns:a16="http://schemas.microsoft.com/office/drawing/2014/main" id="{B32FB639-BE0D-4797-94C1-34A5180900E7}"/>
              </a:ext>
            </a:extLst>
          </p:cNvPr>
          <p:cNvSpPr/>
          <p:nvPr/>
        </p:nvSpPr>
        <p:spPr>
          <a:xfrm>
            <a:off x="364997" y="2700311"/>
            <a:ext cx="6018957" cy="1654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GEE</a:t>
            </a:r>
            <a:r>
              <a:rPr lang="zh-CN" altLang="en-US" dirty="0">
                <a:solidFill>
                  <a:schemeClr val="bg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处理大量的遥感数据</a:t>
            </a:r>
            <a:endParaRPr lang="en-US" altLang="zh-CN" dirty="0">
              <a:solidFill>
                <a:schemeClr val="bg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利用早期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Landsat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图像，以及衍生图像进行训练点判定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建设用地的特点：一旦建成便难以转变成非建设用地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C939DE-D1A1-45B0-87D8-A1A4C8767D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83954" y="1091963"/>
            <a:ext cx="4851365" cy="1864849"/>
          </a:xfrm>
          <a:prstGeom prst="rect">
            <a:avLst/>
          </a:prstGeom>
        </p:spPr>
      </p:pic>
      <p:pic>
        <p:nvPicPr>
          <p:cNvPr id="14" name="Graphic 44">
            <a:extLst>
              <a:ext uri="{FF2B5EF4-FFF2-40B4-BE49-F238E27FC236}">
                <a16:creationId xmlns:a16="http://schemas.microsoft.com/office/drawing/2014/main" id="{B3DC8EC2-7EF1-44F2-90CD-3EEB72CD0D95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1040" y="3429000"/>
            <a:ext cx="4984233" cy="2616925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AA5032-8B43-4249-BCD5-645E5633BBE7}"/>
              </a:ext>
            </a:extLst>
          </p:cNvPr>
          <p:cNvSpPr/>
          <p:nvPr/>
        </p:nvSpPr>
        <p:spPr>
          <a:xfrm>
            <a:off x="6888480" y="3024051"/>
            <a:ext cx="444137" cy="3021874"/>
          </a:xfrm>
          <a:prstGeom prst="round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460249-81A3-466F-B278-80FEA2185482}"/>
              </a:ext>
            </a:extLst>
          </p:cNvPr>
          <p:cNvSpPr/>
          <p:nvPr/>
        </p:nvSpPr>
        <p:spPr>
          <a:xfrm>
            <a:off x="10476411" y="3024051"/>
            <a:ext cx="444137" cy="3021874"/>
          </a:xfrm>
          <a:prstGeom prst="round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EF1794A-E08A-450F-A1EE-A718C4F8E4D5}"/>
              </a:ext>
            </a:extLst>
          </p:cNvPr>
          <p:cNvSpPr/>
          <p:nvPr/>
        </p:nvSpPr>
        <p:spPr>
          <a:xfrm>
            <a:off x="10965842" y="3024051"/>
            <a:ext cx="444137" cy="3021874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37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2B6588-46CA-4A32-8BD7-70495433E1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8989" y="825134"/>
            <a:ext cx="12075200" cy="464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542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C1C3D7-C9EE-456C-BAA2-53335642B389}"/>
              </a:ext>
            </a:extLst>
          </p:cNvPr>
          <p:cNvSpPr/>
          <p:nvPr/>
        </p:nvSpPr>
        <p:spPr>
          <a:xfrm>
            <a:off x="188989" y="260877"/>
            <a:ext cx="3185487" cy="564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SzPct val="90000"/>
            </a:pPr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我们研究的特点，困难和办法</a:t>
            </a:r>
          </a:p>
        </p:txBody>
      </p:sp>
      <p:pic>
        <p:nvPicPr>
          <p:cNvPr id="14" name="Graphic 44">
            <a:extLst>
              <a:ext uri="{FF2B5EF4-FFF2-40B4-BE49-F238E27FC236}">
                <a16:creationId xmlns:a16="http://schemas.microsoft.com/office/drawing/2014/main" id="{B3DC8EC2-7EF1-44F2-90CD-3EEB72CD0D95}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164" y="2511334"/>
            <a:ext cx="4984233" cy="2616925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AA5032-8B43-4249-BCD5-645E5633BBE7}"/>
              </a:ext>
            </a:extLst>
          </p:cNvPr>
          <p:cNvSpPr/>
          <p:nvPr/>
        </p:nvSpPr>
        <p:spPr>
          <a:xfrm>
            <a:off x="863604" y="2106385"/>
            <a:ext cx="444137" cy="3021874"/>
          </a:xfrm>
          <a:prstGeom prst="round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460249-81A3-466F-B278-80FEA2185482}"/>
              </a:ext>
            </a:extLst>
          </p:cNvPr>
          <p:cNvSpPr/>
          <p:nvPr/>
        </p:nvSpPr>
        <p:spPr>
          <a:xfrm>
            <a:off x="4425408" y="2106385"/>
            <a:ext cx="444137" cy="3021874"/>
          </a:xfrm>
          <a:prstGeom prst="round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EF1794A-E08A-450F-A1EE-A718C4F8E4D5}"/>
              </a:ext>
            </a:extLst>
          </p:cNvPr>
          <p:cNvSpPr/>
          <p:nvPr/>
        </p:nvSpPr>
        <p:spPr>
          <a:xfrm>
            <a:off x="4906130" y="2106385"/>
            <a:ext cx="444137" cy="3021874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BB36FA-E46F-46C3-B57B-77C082D23FCB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1085673" y="1633946"/>
            <a:ext cx="0" cy="4724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4968D7-AACA-4150-AC5C-DBBEB9A9211E}"/>
              </a:ext>
            </a:extLst>
          </p:cNvPr>
          <p:cNvCxnSpPr>
            <a:cxnSpLocks/>
          </p:cNvCxnSpPr>
          <p:nvPr/>
        </p:nvCxnSpPr>
        <p:spPr>
          <a:xfrm flipH="1">
            <a:off x="1085675" y="1637339"/>
            <a:ext cx="75964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2EAA524-0D54-45D1-9912-E46C66ACD7EF}"/>
              </a:ext>
            </a:extLst>
          </p:cNvPr>
          <p:cNvCxnSpPr>
            <a:cxnSpLocks/>
          </p:cNvCxnSpPr>
          <p:nvPr/>
        </p:nvCxnSpPr>
        <p:spPr>
          <a:xfrm flipH="1">
            <a:off x="8682174" y="1633946"/>
            <a:ext cx="11669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流程图: 磁盘 377">
            <a:extLst>
              <a:ext uri="{FF2B5EF4-FFF2-40B4-BE49-F238E27FC236}">
                <a16:creationId xmlns:a16="http://schemas.microsoft.com/office/drawing/2014/main" id="{7B9E3790-7C4A-42EB-A4D7-9EB95561A8E7}"/>
              </a:ext>
            </a:extLst>
          </p:cNvPr>
          <p:cNvSpPr/>
          <p:nvPr/>
        </p:nvSpPr>
        <p:spPr>
          <a:xfrm>
            <a:off x="9906272" y="1211512"/>
            <a:ext cx="1421923" cy="706501"/>
          </a:xfrm>
          <a:prstGeom prst="flowChartMagneticDisk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6" name="文本框 47">
            <a:extLst>
              <a:ext uri="{FF2B5EF4-FFF2-40B4-BE49-F238E27FC236}">
                <a16:creationId xmlns:a16="http://schemas.microsoft.com/office/drawing/2014/main" id="{201BF895-7FE3-42E8-B718-5B85B1F95C02}"/>
              </a:ext>
            </a:extLst>
          </p:cNvPr>
          <p:cNvSpPr txBox="1"/>
          <p:nvPr/>
        </p:nvSpPr>
        <p:spPr>
          <a:xfrm>
            <a:off x="9923217" y="1466014"/>
            <a:ext cx="1408924" cy="4674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Samples-1</a:t>
            </a:r>
            <a:endParaRPr lang="en-US" sz="14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27" name="流程图: 磁盘 377">
            <a:extLst>
              <a:ext uri="{FF2B5EF4-FFF2-40B4-BE49-F238E27FC236}">
                <a16:creationId xmlns:a16="http://schemas.microsoft.com/office/drawing/2014/main" id="{A3814B74-9C31-4CA4-A1C6-773F66106638}"/>
              </a:ext>
            </a:extLst>
          </p:cNvPr>
          <p:cNvSpPr/>
          <p:nvPr/>
        </p:nvSpPr>
        <p:spPr>
          <a:xfrm>
            <a:off x="9906273" y="3279399"/>
            <a:ext cx="1417940" cy="704522"/>
          </a:xfrm>
          <a:prstGeom prst="flowChartMagneticDisk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8" name="文本框 47">
            <a:extLst>
              <a:ext uri="{FF2B5EF4-FFF2-40B4-BE49-F238E27FC236}">
                <a16:creationId xmlns:a16="http://schemas.microsoft.com/office/drawing/2014/main" id="{81463972-5D2B-4831-ACEB-468742873924}"/>
              </a:ext>
            </a:extLst>
          </p:cNvPr>
          <p:cNvSpPr txBox="1"/>
          <p:nvPr/>
        </p:nvSpPr>
        <p:spPr>
          <a:xfrm>
            <a:off x="9923217" y="3552951"/>
            <a:ext cx="1404978" cy="46612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Samples-2</a:t>
            </a:r>
            <a:endParaRPr lang="en-US" sz="14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29" name="流程图: 磁盘 377">
            <a:extLst>
              <a:ext uri="{FF2B5EF4-FFF2-40B4-BE49-F238E27FC236}">
                <a16:creationId xmlns:a16="http://schemas.microsoft.com/office/drawing/2014/main" id="{7E2C3DC3-5C2B-4736-ABA2-EEB297A0FD91}"/>
              </a:ext>
            </a:extLst>
          </p:cNvPr>
          <p:cNvSpPr/>
          <p:nvPr/>
        </p:nvSpPr>
        <p:spPr>
          <a:xfrm>
            <a:off x="9906272" y="5384424"/>
            <a:ext cx="1413921" cy="702525"/>
          </a:xfrm>
          <a:prstGeom prst="flowChartMagneticDisk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0" name="文本框 47">
            <a:extLst>
              <a:ext uri="{FF2B5EF4-FFF2-40B4-BE49-F238E27FC236}">
                <a16:creationId xmlns:a16="http://schemas.microsoft.com/office/drawing/2014/main" id="{75DD3475-ACA2-404C-8379-1631EC662812}"/>
              </a:ext>
            </a:extLst>
          </p:cNvPr>
          <p:cNvSpPr txBox="1"/>
          <p:nvPr/>
        </p:nvSpPr>
        <p:spPr>
          <a:xfrm>
            <a:off x="9923217" y="5638926"/>
            <a:ext cx="1400996" cy="4648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algn="ctr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400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Samples-3</a:t>
            </a:r>
            <a:endParaRPr lang="en-US" sz="1400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559DA98-BAAA-4256-96A4-5D76666986EB}"/>
              </a:ext>
            </a:extLst>
          </p:cNvPr>
          <p:cNvCxnSpPr>
            <a:cxnSpLocks/>
          </p:cNvCxnSpPr>
          <p:nvPr/>
        </p:nvCxnSpPr>
        <p:spPr>
          <a:xfrm flipV="1">
            <a:off x="4628973" y="1885950"/>
            <a:ext cx="0" cy="2204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F28AD09-1BEA-4714-8E0E-94959303222E}"/>
              </a:ext>
            </a:extLst>
          </p:cNvPr>
          <p:cNvCxnSpPr>
            <a:cxnSpLocks/>
          </p:cNvCxnSpPr>
          <p:nvPr/>
        </p:nvCxnSpPr>
        <p:spPr>
          <a:xfrm flipH="1">
            <a:off x="4628973" y="1885950"/>
            <a:ext cx="148607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92B9AAC-0486-4816-AA4F-B9310860CFCD}"/>
              </a:ext>
            </a:extLst>
          </p:cNvPr>
          <p:cNvCxnSpPr>
            <a:cxnSpLocks/>
          </p:cNvCxnSpPr>
          <p:nvPr/>
        </p:nvCxnSpPr>
        <p:spPr>
          <a:xfrm flipV="1">
            <a:off x="6114873" y="1885950"/>
            <a:ext cx="0" cy="18097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0A3FA4C-CC02-4DBC-8251-F3B187C16124}"/>
              </a:ext>
            </a:extLst>
          </p:cNvPr>
          <p:cNvCxnSpPr>
            <a:cxnSpLocks/>
          </p:cNvCxnSpPr>
          <p:nvPr/>
        </p:nvCxnSpPr>
        <p:spPr>
          <a:xfrm flipH="1">
            <a:off x="6114873" y="3695700"/>
            <a:ext cx="373424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828BFCB-BF7B-4B22-93E0-4D155408767F}"/>
              </a:ext>
            </a:extLst>
          </p:cNvPr>
          <p:cNvCxnSpPr>
            <a:cxnSpLocks/>
          </p:cNvCxnSpPr>
          <p:nvPr/>
        </p:nvCxnSpPr>
        <p:spPr>
          <a:xfrm flipV="1">
            <a:off x="5105223" y="5128259"/>
            <a:ext cx="0" cy="6204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2148B5A-4D9A-4AFB-B96A-6A879B298D86}"/>
              </a:ext>
            </a:extLst>
          </p:cNvPr>
          <p:cNvCxnSpPr>
            <a:cxnSpLocks/>
          </p:cNvCxnSpPr>
          <p:nvPr/>
        </p:nvCxnSpPr>
        <p:spPr>
          <a:xfrm flipH="1">
            <a:off x="5105223" y="5748745"/>
            <a:ext cx="47439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Picture 42">
            <a:extLst>
              <a:ext uri="{FF2B5EF4-FFF2-40B4-BE49-F238E27FC236}">
                <a16:creationId xmlns:a16="http://schemas.microsoft.com/office/drawing/2014/main" id="{5EB45BF3-952C-4AC6-A7F5-1775BBEE8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210" y="3257605"/>
            <a:ext cx="828571" cy="87619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5664CD7-E341-4DC0-8CDC-EB526E97F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209" y="5260599"/>
            <a:ext cx="828571" cy="87619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AA91143-933F-475C-B9A5-2A3848766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807" y="1211512"/>
            <a:ext cx="828571" cy="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176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83B410B-0B89-4451-99EA-CD819DFEB532}"/>
              </a:ext>
            </a:extLst>
          </p:cNvPr>
          <p:cNvSpPr/>
          <p:nvPr/>
        </p:nvSpPr>
        <p:spPr>
          <a:xfrm>
            <a:off x="3618441" y="2170498"/>
            <a:ext cx="4955117" cy="2198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SzPct val="90000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中国建设用地的提取流程</a:t>
            </a:r>
          </a:p>
          <a:p>
            <a:pPr>
              <a:lnSpc>
                <a:spcPct val="200000"/>
              </a:lnSpc>
              <a:buSzPct val="90000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数据准备，</a:t>
            </a:r>
            <a:r>
              <a:rPr lang="en-US" altLang="zh-CN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Python</a:t>
            </a: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代码，数据存储</a:t>
            </a:r>
          </a:p>
          <a:p>
            <a:pPr>
              <a:lnSpc>
                <a:spcPct val="200000"/>
              </a:lnSpc>
              <a:buSzPct val="90000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每个人的具体任务和角色。</a:t>
            </a:r>
          </a:p>
        </p:txBody>
      </p:sp>
    </p:spTree>
    <p:extLst>
      <p:ext uri="{BB962C8B-B14F-4D97-AF65-F5344CB8AC3E}">
        <p14:creationId xmlns:p14="http://schemas.microsoft.com/office/powerpoint/2010/main" val="1532847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08D1612D-B1AC-47EE-BE0B-AB047CE34EBC}"/>
              </a:ext>
            </a:extLst>
          </p:cNvPr>
          <p:cNvSpPr/>
          <p:nvPr/>
        </p:nvSpPr>
        <p:spPr>
          <a:xfrm>
            <a:off x="5705110" y="2805245"/>
            <a:ext cx="5962997" cy="208349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D53305C-55DC-4863-BBD8-133ECAD0082E}"/>
              </a:ext>
            </a:extLst>
          </p:cNvPr>
          <p:cNvSpPr/>
          <p:nvPr/>
        </p:nvSpPr>
        <p:spPr>
          <a:xfrm>
            <a:off x="400594" y="2810721"/>
            <a:ext cx="4571656" cy="208349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E06DCD-02F5-4C74-A341-E1C78B2DC882}"/>
              </a:ext>
            </a:extLst>
          </p:cNvPr>
          <p:cNvSpPr/>
          <p:nvPr/>
        </p:nvSpPr>
        <p:spPr>
          <a:xfrm>
            <a:off x="188989" y="260877"/>
            <a:ext cx="2723823" cy="564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SzPct val="90000"/>
            </a:pPr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中国建设用地的提取流程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89265C-BBBB-480B-A698-67C11169BF8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892" y="3048945"/>
            <a:ext cx="1955850" cy="15695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055DAD0-0F1E-4C39-9A18-2822CBA7E2CF}"/>
              </a:ext>
            </a:extLst>
          </p:cNvPr>
          <p:cNvSpPr/>
          <p:nvPr/>
        </p:nvSpPr>
        <p:spPr>
          <a:xfrm>
            <a:off x="811646" y="2369991"/>
            <a:ext cx="992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个分区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3C7A48-8319-4508-B295-65BE11FF6A24}"/>
              </a:ext>
            </a:extLst>
          </p:cNvPr>
          <p:cNvSpPr/>
          <p:nvPr/>
        </p:nvSpPr>
        <p:spPr>
          <a:xfrm>
            <a:off x="2872246" y="3631071"/>
            <a:ext cx="1998216" cy="571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5K </a:t>
            </a: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建设用地   （</a:t>
            </a:r>
            <a:r>
              <a:rPr lang="en-US" altLang="zh-CN" sz="1100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1990,2019</a:t>
            </a: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   </a:t>
            </a:r>
            <a:endParaRPr lang="en-US" altLang="zh-CN" sz="1100" dirty="0">
              <a:solidFill>
                <a:schemeClr val="bg2">
                  <a:lumMod val="2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en-US" altLang="zh-CN" sz="1100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非建设用地 （</a:t>
            </a:r>
            <a:r>
              <a:rPr lang="en-US" altLang="zh-CN" sz="1100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2019</a:t>
            </a:r>
            <a:r>
              <a:rPr lang="zh-CN" altLang="en-US" sz="1100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B41FE0-D71F-4C1B-AEDC-AD577B308A26}"/>
              </a:ext>
            </a:extLst>
          </p:cNvPr>
          <p:cNvSpPr/>
          <p:nvPr/>
        </p:nvSpPr>
        <p:spPr>
          <a:xfrm>
            <a:off x="3236376" y="235447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训练点</a:t>
            </a:r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A34D8AD-47D5-4D4E-B822-D7E294C19A0F}"/>
              </a:ext>
            </a:extLst>
          </p:cNvPr>
          <p:cNvGrpSpPr/>
          <p:nvPr/>
        </p:nvGrpSpPr>
        <p:grpSpPr>
          <a:xfrm>
            <a:off x="5858144" y="3049679"/>
            <a:ext cx="5404253" cy="1629463"/>
            <a:chOff x="4699904" y="2883767"/>
            <a:chExt cx="5404253" cy="1629463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AAB13B0-CE3A-40B8-B9C7-F02CFCF264A2}"/>
                </a:ext>
              </a:extLst>
            </p:cNvPr>
            <p:cNvSpPr/>
            <p:nvPr/>
          </p:nvSpPr>
          <p:spPr>
            <a:xfrm>
              <a:off x="6761164" y="2896447"/>
              <a:ext cx="1281735" cy="156954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274295D-D23F-40B2-9A63-6A88120B18F9}"/>
                </a:ext>
              </a:extLst>
            </p:cNvPr>
            <p:cNvSpPr/>
            <p:nvPr/>
          </p:nvSpPr>
          <p:spPr>
            <a:xfrm>
              <a:off x="8822423" y="2883767"/>
              <a:ext cx="1281734" cy="159916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95E2656-3146-48A9-85A9-606B416853C5}"/>
                </a:ext>
              </a:extLst>
            </p:cNvPr>
            <p:cNvSpPr/>
            <p:nvPr/>
          </p:nvSpPr>
          <p:spPr>
            <a:xfrm>
              <a:off x="4699904" y="2940713"/>
              <a:ext cx="1281735" cy="156954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组合 202">
              <a:extLst>
                <a:ext uri="{FF2B5EF4-FFF2-40B4-BE49-F238E27FC236}">
                  <a16:creationId xmlns:a16="http://schemas.microsoft.com/office/drawing/2014/main" id="{6043CE76-D2DA-425B-88D0-1305CCBE759D}"/>
                </a:ext>
              </a:extLst>
            </p:cNvPr>
            <p:cNvGrpSpPr/>
            <p:nvPr/>
          </p:nvGrpSpPr>
          <p:grpSpPr>
            <a:xfrm>
              <a:off x="4869885" y="3673920"/>
              <a:ext cx="969402" cy="708343"/>
              <a:chOff x="5340350" y="2908300"/>
              <a:chExt cx="1467696" cy="1072447"/>
            </a:xfrm>
          </p:grpSpPr>
          <p:sp>
            <p:nvSpPr>
              <p:cNvPr id="11" name="椭圆 147">
                <a:extLst>
                  <a:ext uri="{FF2B5EF4-FFF2-40B4-BE49-F238E27FC236}">
                    <a16:creationId xmlns:a16="http://schemas.microsoft.com/office/drawing/2014/main" id="{8D043C7F-9718-4061-853E-6CA41F26B9E8}"/>
                  </a:ext>
                </a:extLst>
              </p:cNvPr>
              <p:cNvSpPr/>
              <p:nvPr/>
            </p:nvSpPr>
            <p:spPr>
              <a:xfrm>
                <a:off x="6000750" y="2908300"/>
                <a:ext cx="45719" cy="4571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46000">
                    <a:schemeClr val="accent2">
                      <a:lumMod val="95000"/>
                      <a:lumOff val="5000"/>
                    </a:schemeClr>
                  </a:gs>
                  <a:gs pos="100000">
                    <a:schemeClr val="accent2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椭圆 148">
                <a:extLst>
                  <a:ext uri="{FF2B5EF4-FFF2-40B4-BE49-F238E27FC236}">
                    <a16:creationId xmlns:a16="http://schemas.microsoft.com/office/drawing/2014/main" id="{B9398220-E596-45A4-B86E-03D15E334D8C}"/>
                  </a:ext>
                </a:extLst>
              </p:cNvPr>
              <p:cNvSpPr/>
              <p:nvPr/>
            </p:nvSpPr>
            <p:spPr>
              <a:xfrm>
                <a:off x="5568950" y="3128407"/>
                <a:ext cx="45719" cy="4571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46000">
                    <a:schemeClr val="accent2">
                      <a:lumMod val="95000"/>
                      <a:lumOff val="5000"/>
                    </a:schemeClr>
                  </a:gs>
                  <a:gs pos="100000">
                    <a:schemeClr val="accent2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" name="椭圆 149">
                <a:extLst>
                  <a:ext uri="{FF2B5EF4-FFF2-40B4-BE49-F238E27FC236}">
                    <a16:creationId xmlns:a16="http://schemas.microsoft.com/office/drawing/2014/main" id="{0F96C7A3-4F07-4DDE-91C7-AAF4CCE6842D}"/>
                  </a:ext>
                </a:extLst>
              </p:cNvPr>
              <p:cNvSpPr/>
              <p:nvPr/>
            </p:nvSpPr>
            <p:spPr>
              <a:xfrm>
                <a:off x="5340350" y="3337957"/>
                <a:ext cx="45719" cy="4571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椭圆 150">
                <a:extLst>
                  <a:ext uri="{FF2B5EF4-FFF2-40B4-BE49-F238E27FC236}">
                    <a16:creationId xmlns:a16="http://schemas.microsoft.com/office/drawing/2014/main" id="{81423FA8-A2AB-4EFF-9EA4-2C3EE79A6425}"/>
                  </a:ext>
                </a:extLst>
              </p:cNvPr>
              <p:cNvSpPr/>
              <p:nvPr/>
            </p:nvSpPr>
            <p:spPr>
              <a:xfrm>
                <a:off x="5774269" y="3383280"/>
                <a:ext cx="45719" cy="4571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46000">
                    <a:schemeClr val="accent2">
                      <a:lumMod val="95000"/>
                      <a:lumOff val="5000"/>
                    </a:schemeClr>
                  </a:gs>
                  <a:gs pos="100000">
                    <a:schemeClr val="accent2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椭圆 151">
                <a:extLst>
                  <a:ext uri="{FF2B5EF4-FFF2-40B4-BE49-F238E27FC236}">
                    <a16:creationId xmlns:a16="http://schemas.microsoft.com/office/drawing/2014/main" id="{B3B43D86-CA04-4081-B219-DD4AEA79CC7F}"/>
                  </a:ext>
                </a:extLst>
              </p:cNvPr>
              <p:cNvSpPr/>
              <p:nvPr/>
            </p:nvSpPr>
            <p:spPr>
              <a:xfrm>
                <a:off x="5616788" y="3646283"/>
                <a:ext cx="45719" cy="4571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46000">
                    <a:schemeClr val="accent2">
                      <a:lumMod val="95000"/>
                      <a:lumOff val="5000"/>
                    </a:schemeClr>
                  </a:gs>
                  <a:gs pos="100000">
                    <a:schemeClr val="accent2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椭圆 152">
                <a:extLst>
                  <a:ext uri="{FF2B5EF4-FFF2-40B4-BE49-F238E27FC236}">
                    <a16:creationId xmlns:a16="http://schemas.microsoft.com/office/drawing/2014/main" id="{70C0C02A-4488-4E01-8B98-020A9E31F5E8}"/>
                  </a:ext>
                </a:extLst>
              </p:cNvPr>
              <p:cNvSpPr/>
              <p:nvPr/>
            </p:nvSpPr>
            <p:spPr>
              <a:xfrm>
                <a:off x="5949528" y="3623423"/>
                <a:ext cx="45719" cy="4571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46000">
                    <a:schemeClr val="accent3">
                      <a:lumMod val="95000"/>
                      <a:lumOff val="5000"/>
                    </a:schemeClr>
                  </a:gs>
                  <a:gs pos="100000">
                    <a:schemeClr val="accent3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椭圆 153">
                <a:extLst>
                  <a:ext uri="{FF2B5EF4-FFF2-40B4-BE49-F238E27FC236}">
                    <a16:creationId xmlns:a16="http://schemas.microsoft.com/office/drawing/2014/main" id="{633EAE9D-BB5B-4E6B-9F2F-D9A5C1F22D1A}"/>
                  </a:ext>
                </a:extLst>
              </p:cNvPr>
              <p:cNvSpPr/>
              <p:nvPr/>
            </p:nvSpPr>
            <p:spPr>
              <a:xfrm>
                <a:off x="6476578" y="3151266"/>
                <a:ext cx="45719" cy="4571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椭圆 154">
                <a:extLst>
                  <a:ext uri="{FF2B5EF4-FFF2-40B4-BE49-F238E27FC236}">
                    <a16:creationId xmlns:a16="http://schemas.microsoft.com/office/drawing/2014/main" id="{831EE0B1-1142-47C9-9903-B9D7C9A548E1}"/>
                  </a:ext>
                </a:extLst>
              </p:cNvPr>
              <p:cNvSpPr/>
              <p:nvPr/>
            </p:nvSpPr>
            <p:spPr>
              <a:xfrm>
                <a:off x="6279728" y="3360816"/>
                <a:ext cx="45719" cy="4571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46000">
                    <a:schemeClr val="accent2">
                      <a:lumMod val="95000"/>
                      <a:lumOff val="5000"/>
                    </a:schemeClr>
                  </a:gs>
                  <a:gs pos="100000">
                    <a:schemeClr val="accent2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" name="椭圆 155">
                <a:extLst>
                  <a:ext uri="{FF2B5EF4-FFF2-40B4-BE49-F238E27FC236}">
                    <a16:creationId xmlns:a16="http://schemas.microsoft.com/office/drawing/2014/main" id="{C27C50B3-6FDD-4DB4-8964-06E17A2D3757}"/>
                  </a:ext>
                </a:extLst>
              </p:cNvPr>
              <p:cNvSpPr/>
              <p:nvPr/>
            </p:nvSpPr>
            <p:spPr>
              <a:xfrm>
                <a:off x="6762327" y="3337957"/>
                <a:ext cx="45719" cy="4571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46000">
                    <a:schemeClr val="accent3">
                      <a:lumMod val="95000"/>
                      <a:lumOff val="5000"/>
                    </a:schemeClr>
                  </a:gs>
                  <a:gs pos="100000">
                    <a:schemeClr val="accent3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椭圆 156">
                <a:extLst>
                  <a:ext uri="{FF2B5EF4-FFF2-40B4-BE49-F238E27FC236}">
                    <a16:creationId xmlns:a16="http://schemas.microsoft.com/office/drawing/2014/main" id="{1D218962-71CB-4D0E-9E06-935F8772376F}"/>
                  </a:ext>
                </a:extLst>
              </p:cNvPr>
              <p:cNvSpPr/>
              <p:nvPr/>
            </p:nvSpPr>
            <p:spPr>
              <a:xfrm>
                <a:off x="6622627" y="3632425"/>
                <a:ext cx="45719" cy="4571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2">
                      <a:lumMod val="40000"/>
                      <a:lumOff val="60000"/>
                    </a:schemeClr>
                  </a:gs>
                  <a:gs pos="46000">
                    <a:schemeClr val="accent2">
                      <a:lumMod val="95000"/>
                      <a:lumOff val="5000"/>
                    </a:schemeClr>
                  </a:gs>
                  <a:gs pos="100000">
                    <a:schemeClr val="accent2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椭圆 157">
                <a:extLst>
                  <a:ext uri="{FF2B5EF4-FFF2-40B4-BE49-F238E27FC236}">
                    <a16:creationId xmlns:a16="http://schemas.microsoft.com/office/drawing/2014/main" id="{9AE9420D-06CC-4F22-AC24-DEE71821FBE1}"/>
                  </a:ext>
                </a:extLst>
              </p:cNvPr>
              <p:cNvSpPr/>
              <p:nvPr/>
            </p:nvSpPr>
            <p:spPr>
              <a:xfrm>
                <a:off x="6415963" y="3632425"/>
                <a:ext cx="45719" cy="4571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椭圆 158">
                <a:extLst>
                  <a:ext uri="{FF2B5EF4-FFF2-40B4-BE49-F238E27FC236}">
                    <a16:creationId xmlns:a16="http://schemas.microsoft.com/office/drawing/2014/main" id="{97220836-DB93-426D-90AE-7CCE282B9F1F}"/>
                  </a:ext>
                </a:extLst>
              </p:cNvPr>
              <p:cNvSpPr/>
              <p:nvPr/>
            </p:nvSpPr>
            <p:spPr>
              <a:xfrm>
                <a:off x="6255362" y="3935028"/>
                <a:ext cx="45719" cy="4571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46000">
                    <a:schemeClr val="accent3">
                      <a:lumMod val="95000"/>
                      <a:lumOff val="5000"/>
                    </a:schemeClr>
                  </a:gs>
                  <a:gs pos="100000">
                    <a:schemeClr val="accent3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椭圆 159">
                <a:extLst>
                  <a:ext uri="{FF2B5EF4-FFF2-40B4-BE49-F238E27FC236}">
                    <a16:creationId xmlns:a16="http://schemas.microsoft.com/office/drawing/2014/main" id="{1BEC68F2-F52D-4A5F-B8E6-4A49DB674473}"/>
                  </a:ext>
                </a:extLst>
              </p:cNvPr>
              <p:cNvSpPr/>
              <p:nvPr/>
            </p:nvSpPr>
            <p:spPr>
              <a:xfrm>
                <a:off x="5461816" y="3905474"/>
                <a:ext cx="45719" cy="4571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46000">
                    <a:schemeClr val="accent3">
                      <a:lumMod val="95000"/>
                      <a:lumOff val="5000"/>
                    </a:schemeClr>
                  </a:gs>
                  <a:gs pos="100000">
                    <a:schemeClr val="accent3">
                      <a:lumMod val="6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" name="椭圆 160">
                <a:extLst>
                  <a:ext uri="{FF2B5EF4-FFF2-40B4-BE49-F238E27FC236}">
                    <a16:creationId xmlns:a16="http://schemas.microsoft.com/office/drawing/2014/main" id="{63FF7A17-512B-4715-835B-7B54860BCF72}"/>
                  </a:ext>
                </a:extLst>
              </p:cNvPr>
              <p:cNvSpPr/>
              <p:nvPr/>
            </p:nvSpPr>
            <p:spPr>
              <a:xfrm>
                <a:off x="5774269" y="3928333"/>
                <a:ext cx="45719" cy="45719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cxnSp>
            <p:nvCxnSpPr>
              <p:cNvPr id="25" name="直接连接符 162">
                <a:extLst>
                  <a:ext uri="{FF2B5EF4-FFF2-40B4-BE49-F238E27FC236}">
                    <a16:creationId xmlns:a16="http://schemas.microsoft.com/office/drawing/2014/main" id="{AF1AEB8A-1C62-4754-85EF-7F75F9D023C1}"/>
                  </a:ext>
                </a:extLst>
              </p:cNvPr>
              <p:cNvCxnSpPr>
                <a:cxnSpLocks/>
                <a:stCxn id="11" idx="2"/>
                <a:endCxn id="12" idx="7"/>
              </p:cNvCxnSpPr>
              <p:nvPr/>
            </p:nvCxnSpPr>
            <p:spPr>
              <a:xfrm flipH="1">
                <a:off x="5607974" y="2931160"/>
                <a:ext cx="392776" cy="20394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164">
                <a:extLst>
                  <a:ext uri="{FF2B5EF4-FFF2-40B4-BE49-F238E27FC236}">
                    <a16:creationId xmlns:a16="http://schemas.microsoft.com/office/drawing/2014/main" id="{CCC079E9-DAB5-4B3A-90C6-DC719A9890BF}"/>
                  </a:ext>
                </a:extLst>
              </p:cNvPr>
              <p:cNvCxnSpPr>
                <a:cxnSpLocks/>
                <a:stCxn id="12" idx="3"/>
                <a:endCxn id="13" idx="7"/>
              </p:cNvCxnSpPr>
              <p:nvPr/>
            </p:nvCxnSpPr>
            <p:spPr>
              <a:xfrm flipH="1">
                <a:off x="5379374" y="3167431"/>
                <a:ext cx="196271" cy="1772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171">
                <a:extLst>
                  <a:ext uri="{FF2B5EF4-FFF2-40B4-BE49-F238E27FC236}">
                    <a16:creationId xmlns:a16="http://schemas.microsoft.com/office/drawing/2014/main" id="{5AAB6F3F-AB1E-4207-979A-A0552644947B}"/>
                  </a:ext>
                </a:extLst>
              </p:cNvPr>
              <p:cNvCxnSpPr>
                <a:stCxn id="12" idx="5"/>
                <a:endCxn id="14" idx="1"/>
              </p:cNvCxnSpPr>
              <p:nvPr/>
            </p:nvCxnSpPr>
            <p:spPr>
              <a:xfrm>
                <a:off x="5607974" y="3167431"/>
                <a:ext cx="172990" cy="2225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175">
                <a:extLst>
                  <a:ext uri="{FF2B5EF4-FFF2-40B4-BE49-F238E27FC236}">
                    <a16:creationId xmlns:a16="http://schemas.microsoft.com/office/drawing/2014/main" id="{4578AF71-1587-496E-86EA-437938F06A94}"/>
                  </a:ext>
                </a:extLst>
              </p:cNvPr>
              <p:cNvCxnSpPr>
                <a:cxnSpLocks/>
                <a:stCxn id="14" idx="3"/>
                <a:endCxn id="15" idx="7"/>
              </p:cNvCxnSpPr>
              <p:nvPr/>
            </p:nvCxnSpPr>
            <p:spPr>
              <a:xfrm flipH="1">
                <a:off x="5655812" y="3422304"/>
                <a:ext cx="125152" cy="2306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177">
                <a:extLst>
                  <a:ext uri="{FF2B5EF4-FFF2-40B4-BE49-F238E27FC236}">
                    <a16:creationId xmlns:a16="http://schemas.microsoft.com/office/drawing/2014/main" id="{B9151AB4-7EC7-4638-AC1F-7963A42E530E}"/>
                  </a:ext>
                </a:extLst>
              </p:cNvPr>
              <p:cNvCxnSpPr>
                <a:stCxn id="15" idx="3"/>
                <a:endCxn id="23" idx="7"/>
              </p:cNvCxnSpPr>
              <p:nvPr/>
            </p:nvCxnSpPr>
            <p:spPr>
              <a:xfrm flipH="1">
                <a:off x="5500840" y="3685307"/>
                <a:ext cx="122643" cy="22686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179">
                <a:extLst>
                  <a:ext uri="{FF2B5EF4-FFF2-40B4-BE49-F238E27FC236}">
                    <a16:creationId xmlns:a16="http://schemas.microsoft.com/office/drawing/2014/main" id="{1165B320-D87F-41AB-88D0-26525D2B7917}"/>
                  </a:ext>
                </a:extLst>
              </p:cNvPr>
              <p:cNvCxnSpPr>
                <a:endCxn id="24" idx="1"/>
              </p:cNvCxnSpPr>
              <p:nvPr/>
            </p:nvCxnSpPr>
            <p:spPr>
              <a:xfrm>
                <a:off x="5655812" y="3678144"/>
                <a:ext cx="125152" cy="25688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182">
                <a:extLst>
                  <a:ext uri="{FF2B5EF4-FFF2-40B4-BE49-F238E27FC236}">
                    <a16:creationId xmlns:a16="http://schemas.microsoft.com/office/drawing/2014/main" id="{B8879128-517A-4E00-906F-98AD2C4A9FA1}"/>
                  </a:ext>
                </a:extLst>
              </p:cNvPr>
              <p:cNvCxnSpPr>
                <a:stCxn id="14" idx="5"/>
                <a:endCxn id="16" idx="1"/>
              </p:cNvCxnSpPr>
              <p:nvPr/>
            </p:nvCxnSpPr>
            <p:spPr>
              <a:xfrm>
                <a:off x="5813293" y="3422304"/>
                <a:ext cx="142930" cy="20781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184">
                <a:extLst>
                  <a:ext uri="{FF2B5EF4-FFF2-40B4-BE49-F238E27FC236}">
                    <a16:creationId xmlns:a16="http://schemas.microsoft.com/office/drawing/2014/main" id="{44EF6CCF-3687-44B5-A64F-4925E86468EF}"/>
                  </a:ext>
                </a:extLst>
              </p:cNvPr>
              <p:cNvCxnSpPr>
                <a:stCxn id="11" idx="6"/>
                <a:endCxn id="17" idx="1"/>
              </p:cNvCxnSpPr>
              <p:nvPr/>
            </p:nvCxnSpPr>
            <p:spPr>
              <a:xfrm>
                <a:off x="6046469" y="2931160"/>
                <a:ext cx="436804" cy="22680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186">
                <a:extLst>
                  <a:ext uri="{FF2B5EF4-FFF2-40B4-BE49-F238E27FC236}">
                    <a16:creationId xmlns:a16="http://schemas.microsoft.com/office/drawing/2014/main" id="{AFA13EC1-E50F-4070-80AD-AD28940A0AA2}"/>
                  </a:ext>
                </a:extLst>
              </p:cNvPr>
              <p:cNvCxnSpPr>
                <a:cxnSpLocks/>
                <a:stCxn id="17" idx="3"/>
                <a:endCxn id="18" idx="7"/>
              </p:cNvCxnSpPr>
              <p:nvPr/>
            </p:nvCxnSpPr>
            <p:spPr>
              <a:xfrm flipH="1">
                <a:off x="6318752" y="3190290"/>
                <a:ext cx="164521" cy="1772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189">
                <a:extLst>
                  <a:ext uri="{FF2B5EF4-FFF2-40B4-BE49-F238E27FC236}">
                    <a16:creationId xmlns:a16="http://schemas.microsoft.com/office/drawing/2014/main" id="{834EA043-AE92-47EA-8E4B-9B893F2B3F1C}"/>
                  </a:ext>
                </a:extLst>
              </p:cNvPr>
              <p:cNvCxnSpPr>
                <a:cxnSpLocks/>
                <a:stCxn id="18" idx="4"/>
                <a:endCxn id="21" idx="1"/>
              </p:cNvCxnSpPr>
              <p:nvPr/>
            </p:nvCxnSpPr>
            <p:spPr>
              <a:xfrm>
                <a:off x="6302588" y="3406535"/>
                <a:ext cx="120070" cy="2325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191">
                <a:extLst>
                  <a:ext uri="{FF2B5EF4-FFF2-40B4-BE49-F238E27FC236}">
                    <a16:creationId xmlns:a16="http://schemas.microsoft.com/office/drawing/2014/main" id="{C4D72C42-52A6-4283-A430-3F9459FD8911}"/>
                  </a:ext>
                </a:extLst>
              </p:cNvPr>
              <p:cNvCxnSpPr>
                <a:cxnSpLocks/>
                <a:stCxn id="19" idx="3"/>
                <a:endCxn id="20" idx="0"/>
              </p:cNvCxnSpPr>
              <p:nvPr/>
            </p:nvCxnSpPr>
            <p:spPr>
              <a:xfrm flipH="1">
                <a:off x="6645487" y="3376981"/>
                <a:ext cx="123535" cy="2554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193">
                <a:extLst>
                  <a:ext uri="{FF2B5EF4-FFF2-40B4-BE49-F238E27FC236}">
                    <a16:creationId xmlns:a16="http://schemas.microsoft.com/office/drawing/2014/main" id="{9B24E507-7F71-4D58-B343-1F071AAF1598}"/>
                  </a:ext>
                </a:extLst>
              </p:cNvPr>
              <p:cNvCxnSpPr>
                <a:stCxn id="17" idx="6"/>
                <a:endCxn id="19" idx="1"/>
              </p:cNvCxnSpPr>
              <p:nvPr/>
            </p:nvCxnSpPr>
            <p:spPr>
              <a:xfrm>
                <a:off x="6522297" y="3174126"/>
                <a:ext cx="246725" cy="17052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196">
                <a:extLst>
                  <a:ext uri="{FF2B5EF4-FFF2-40B4-BE49-F238E27FC236}">
                    <a16:creationId xmlns:a16="http://schemas.microsoft.com/office/drawing/2014/main" id="{195271B0-9A71-4B5B-8C3C-8912A61726D4}"/>
                  </a:ext>
                </a:extLst>
              </p:cNvPr>
              <p:cNvCxnSpPr>
                <a:cxnSpLocks/>
                <a:stCxn id="21" idx="3"/>
                <a:endCxn id="22" idx="7"/>
              </p:cNvCxnSpPr>
              <p:nvPr/>
            </p:nvCxnSpPr>
            <p:spPr>
              <a:xfrm flipH="1">
                <a:off x="6294386" y="3671449"/>
                <a:ext cx="128272" cy="2702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矩形 210">
              <a:extLst>
                <a:ext uri="{FF2B5EF4-FFF2-40B4-BE49-F238E27FC236}">
                  <a16:creationId xmlns:a16="http://schemas.microsoft.com/office/drawing/2014/main" id="{D1DEF893-E1B5-4183-A802-6219070AD73E}"/>
                </a:ext>
              </a:extLst>
            </p:cNvPr>
            <p:cNvSpPr/>
            <p:nvPr/>
          </p:nvSpPr>
          <p:spPr>
            <a:xfrm>
              <a:off x="4829023" y="3065841"/>
              <a:ext cx="1017629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050" b="1" dirty="0">
                  <a:solidFill>
                    <a:schemeClr val="bg2">
                      <a:lumMod val="25000"/>
                    </a:scheme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随机森林算法</a:t>
              </a:r>
              <a:endParaRPr lang="en-US" sz="105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39" name="图片 230">
              <a:extLst>
                <a:ext uri="{FF2B5EF4-FFF2-40B4-BE49-F238E27FC236}">
                  <a16:creationId xmlns:a16="http://schemas.microsoft.com/office/drawing/2014/main" id="{047A97D7-7971-4679-8977-F2D31C9B5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026248" y="3570411"/>
              <a:ext cx="886034" cy="882165"/>
            </a:xfrm>
            <a:prstGeom prst="rect">
              <a:avLst/>
            </a:prstGeom>
            <a:scene3d>
              <a:camera prst="isometricOffAxis2Top"/>
              <a:lightRig rig="balanced" dir="t"/>
            </a:scene3d>
            <a:sp3d>
              <a:bevelT/>
            </a:sp3d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D8238A6-803F-4FC3-BF4C-23125237AA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832699" y="3364393"/>
              <a:ext cx="1138664" cy="1148837"/>
            </a:xfrm>
            <a:prstGeom prst="rect">
              <a:avLst/>
            </a:prstGeom>
          </p:spPr>
        </p:pic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E94E5658-54AA-4E85-AF7D-1CFB09947F9A}"/>
                </a:ext>
              </a:extLst>
            </p:cNvPr>
            <p:cNvSpPr/>
            <p:nvPr/>
          </p:nvSpPr>
          <p:spPr>
            <a:xfrm>
              <a:off x="6286430" y="3507199"/>
              <a:ext cx="231487" cy="332722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Arrow: Right 41">
              <a:extLst>
                <a:ext uri="{FF2B5EF4-FFF2-40B4-BE49-F238E27FC236}">
                  <a16:creationId xmlns:a16="http://schemas.microsoft.com/office/drawing/2014/main" id="{DF93B66E-FC35-418C-B430-781EB9D02F3F}"/>
                </a:ext>
              </a:extLst>
            </p:cNvPr>
            <p:cNvSpPr/>
            <p:nvPr/>
          </p:nvSpPr>
          <p:spPr>
            <a:xfrm>
              <a:off x="8362723" y="3537756"/>
              <a:ext cx="231487" cy="332722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矩形 210">
              <a:extLst>
                <a:ext uri="{FF2B5EF4-FFF2-40B4-BE49-F238E27FC236}">
                  <a16:creationId xmlns:a16="http://schemas.microsoft.com/office/drawing/2014/main" id="{5DF521BF-CCDC-407C-8836-AFEEEF7E4147}"/>
                </a:ext>
              </a:extLst>
            </p:cNvPr>
            <p:cNvSpPr/>
            <p:nvPr/>
          </p:nvSpPr>
          <p:spPr>
            <a:xfrm>
              <a:off x="6908019" y="3003462"/>
              <a:ext cx="1024281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05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应用分类算法</a:t>
              </a:r>
              <a:endParaRPr lang="en-US" sz="105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4" name="矩形 210">
              <a:extLst>
                <a:ext uri="{FF2B5EF4-FFF2-40B4-BE49-F238E27FC236}">
                  <a16:creationId xmlns:a16="http://schemas.microsoft.com/office/drawing/2014/main" id="{D1089424-6FB7-4D8F-BBD0-D33CEC6641D9}"/>
                </a:ext>
              </a:extLst>
            </p:cNvPr>
            <p:cNvSpPr/>
            <p:nvPr/>
          </p:nvSpPr>
          <p:spPr>
            <a:xfrm>
              <a:off x="8991306" y="3046737"/>
              <a:ext cx="943967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05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结果</a:t>
              </a:r>
              <a:r>
                <a:rPr lang="en-US" altLang="zh-CN" sz="105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/</a:t>
              </a:r>
              <a:r>
                <a:rPr lang="zh-CN" altLang="en-US" sz="105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后处理</a:t>
              </a:r>
              <a:endParaRPr lang="en-US" sz="105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D9D5723F-36B8-4423-81BB-4EB0FCEE2CB1}"/>
              </a:ext>
            </a:extLst>
          </p:cNvPr>
          <p:cNvSpPr/>
          <p:nvPr/>
        </p:nvSpPr>
        <p:spPr>
          <a:xfrm>
            <a:off x="7717732" y="2369991"/>
            <a:ext cx="1685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GEE 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531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87AC92-4D74-454D-8596-DED83FE76E73}"/>
              </a:ext>
            </a:extLst>
          </p:cNvPr>
          <p:cNvSpPr/>
          <p:nvPr/>
        </p:nvSpPr>
        <p:spPr>
          <a:xfrm>
            <a:off x="188989" y="260877"/>
            <a:ext cx="3619902" cy="564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SzPct val="90000"/>
            </a:pPr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数据准备，</a:t>
            </a:r>
            <a:r>
              <a:rPr lang="en-US" altLang="zh-CN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Python</a:t>
            </a:r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代码，数据存储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3F7314-BAA2-4AD1-A711-821E37B71B00}"/>
              </a:ext>
            </a:extLst>
          </p:cNvPr>
          <p:cNvGrpSpPr/>
          <p:nvPr/>
        </p:nvGrpSpPr>
        <p:grpSpPr>
          <a:xfrm>
            <a:off x="7067390" y="4411381"/>
            <a:ext cx="4432228" cy="1574723"/>
            <a:chOff x="3353234" y="2372374"/>
            <a:chExt cx="7661752" cy="272213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97961CA-78B2-4AB8-88BA-A1E11FC20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3234" y="2372374"/>
              <a:ext cx="7661752" cy="2722139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A832259-26F7-42A9-920B-DDEC9088C912}"/>
                </a:ext>
              </a:extLst>
            </p:cNvPr>
            <p:cNvSpPr/>
            <p:nvPr/>
          </p:nvSpPr>
          <p:spPr>
            <a:xfrm>
              <a:off x="4824549" y="2412273"/>
              <a:ext cx="1846218" cy="1271451"/>
            </a:xfrm>
            <a:prstGeom prst="roundRect">
              <a:avLst/>
            </a:prstGeom>
            <a:noFill/>
            <a:ln w="1905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F634A2B-0C4D-4507-9EC9-4BB6FEE5A580}"/>
                </a:ext>
              </a:extLst>
            </p:cNvPr>
            <p:cNvSpPr/>
            <p:nvPr/>
          </p:nvSpPr>
          <p:spPr>
            <a:xfrm>
              <a:off x="4824549" y="4040777"/>
              <a:ext cx="3718560" cy="635726"/>
            </a:xfrm>
            <a:prstGeom prst="roundRect">
              <a:avLst/>
            </a:prstGeom>
            <a:noFill/>
            <a:ln w="1905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16134BD0-4EE6-4212-BAD4-8E9B8343093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174" y="1468587"/>
            <a:ext cx="2983946" cy="16926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7A3B08B-AC89-4F95-881B-A9CE6D9B364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382" y="4253424"/>
            <a:ext cx="3917443" cy="1692624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0F08C1A2-F6D7-4564-81E9-31B86355D542}"/>
              </a:ext>
            </a:extLst>
          </p:cNvPr>
          <p:cNvSpPr/>
          <p:nvPr/>
        </p:nvSpPr>
        <p:spPr>
          <a:xfrm>
            <a:off x="5039389" y="2401984"/>
            <a:ext cx="1140823" cy="22800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3A188FC-9660-4160-BB0D-2D8D59BCF232}"/>
              </a:ext>
            </a:extLst>
          </p:cNvPr>
          <p:cNvSpPr/>
          <p:nvPr/>
        </p:nvSpPr>
        <p:spPr>
          <a:xfrm>
            <a:off x="5039389" y="5099736"/>
            <a:ext cx="1140823" cy="22800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635D63-2233-4CC7-BBFF-37CF11B9C402}"/>
              </a:ext>
            </a:extLst>
          </p:cNvPr>
          <p:cNvSpPr/>
          <p:nvPr/>
        </p:nvSpPr>
        <p:spPr>
          <a:xfrm>
            <a:off x="7314251" y="1755771"/>
            <a:ext cx="2802370" cy="10042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dirty="0"/>
              <a:t>1.</a:t>
            </a:r>
            <a:r>
              <a:rPr lang="zh-CN" altLang="en-US" sz="1600" dirty="0"/>
              <a:t>请同学们进行训练点的采集</a:t>
            </a:r>
            <a:endParaRPr lang="en-US" altLang="zh-CN" sz="1600" dirty="0"/>
          </a:p>
          <a:p>
            <a:pPr>
              <a:lnSpc>
                <a:spcPct val="200000"/>
              </a:lnSpc>
            </a:pPr>
            <a:r>
              <a:rPr lang="en-US" altLang="zh-CN" sz="1600" dirty="0"/>
              <a:t>2.</a:t>
            </a:r>
            <a:r>
              <a:rPr lang="zh-CN" altLang="en-US" sz="1600" dirty="0"/>
              <a:t>我做质量控制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49612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7407FB-2D84-4649-87A5-A129E765BA42}"/>
              </a:ext>
            </a:extLst>
          </p:cNvPr>
          <p:cNvSpPr/>
          <p:nvPr/>
        </p:nvSpPr>
        <p:spPr>
          <a:xfrm>
            <a:off x="188989" y="260877"/>
            <a:ext cx="2723823" cy="564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SzPct val="90000"/>
            </a:pPr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每个人的具体任务和角色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5FDEC2-D4EA-42CC-8DA1-069557FFBDB6}"/>
              </a:ext>
            </a:extLst>
          </p:cNvPr>
          <p:cNvSpPr/>
          <p:nvPr/>
        </p:nvSpPr>
        <p:spPr>
          <a:xfrm>
            <a:off x="1665127" y="2537962"/>
            <a:ext cx="4443845" cy="14966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dirty="0"/>
              <a:t>1.</a:t>
            </a:r>
            <a:r>
              <a:rPr lang="zh-CN" altLang="en-US" sz="1600" dirty="0"/>
              <a:t>采集训练点</a:t>
            </a:r>
            <a:endParaRPr lang="en-US" altLang="zh-CN" sz="1600" dirty="0"/>
          </a:p>
          <a:p>
            <a:pPr>
              <a:lnSpc>
                <a:spcPct val="200000"/>
              </a:lnSpc>
            </a:pPr>
            <a:r>
              <a:rPr lang="en-US" sz="1600" dirty="0"/>
              <a:t>2.</a:t>
            </a:r>
            <a:r>
              <a:rPr lang="zh-CN" altLang="en-US" sz="1600" dirty="0"/>
              <a:t>利用自己的帐号，执行分类代码</a:t>
            </a:r>
            <a:endParaRPr lang="en-US" altLang="zh-CN" sz="1600" dirty="0"/>
          </a:p>
          <a:p>
            <a:pPr>
              <a:lnSpc>
                <a:spcPct val="200000"/>
              </a:lnSpc>
            </a:pPr>
            <a:r>
              <a:rPr lang="en-US" sz="1600" dirty="0"/>
              <a:t>3.</a:t>
            </a:r>
            <a:r>
              <a:rPr lang="zh-CN" altLang="en-US" sz="1600" dirty="0"/>
              <a:t>根据自己的专业基础和兴趣，学习代码的内容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46228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83B410B-0B89-4451-99EA-CD819DFEB532}"/>
              </a:ext>
            </a:extLst>
          </p:cNvPr>
          <p:cNvSpPr/>
          <p:nvPr/>
        </p:nvSpPr>
        <p:spPr>
          <a:xfrm>
            <a:off x="4558967" y="2632052"/>
            <a:ext cx="2817193" cy="721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SzPct val="90000"/>
            </a:pPr>
            <a:r>
              <a:rPr lang="zh-CN" altLang="en-US" sz="2400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可能存在的问题</a:t>
            </a:r>
          </a:p>
        </p:txBody>
      </p:sp>
    </p:spTree>
    <p:extLst>
      <p:ext uri="{BB962C8B-B14F-4D97-AF65-F5344CB8AC3E}">
        <p14:creationId xmlns:p14="http://schemas.microsoft.com/office/powerpoint/2010/main" val="3110826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7407FB-2D84-4649-87A5-A129E765BA42}"/>
              </a:ext>
            </a:extLst>
          </p:cNvPr>
          <p:cNvSpPr/>
          <p:nvPr/>
        </p:nvSpPr>
        <p:spPr>
          <a:xfrm>
            <a:off x="188989" y="260877"/>
            <a:ext cx="1800493" cy="5642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SzPct val="90000"/>
            </a:pPr>
            <a:r>
              <a:rPr lang="zh-CN" altLang="en-US" kern="0" dirty="0">
                <a:solidFill>
                  <a:srgbClr val="189040"/>
                </a:solidFill>
                <a:ea typeface="黑体" panose="02010600030101010101" charset="-122"/>
                <a:cs typeface="+mn-ea"/>
              </a:rPr>
              <a:t>可能存在的问题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5FDEC2-D4EA-42CC-8DA1-069557FFBDB6}"/>
              </a:ext>
            </a:extLst>
          </p:cNvPr>
          <p:cNvSpPr/>
          <p:nvPr/>
        </p:nvSpPr>
        <p:spPr>
          <a:xfrm>
            <a:off x="4721834" y="2607630"/>
            <a:ext cx="2597186" cy="10042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600" dirty="0"/>
              <a:t>1.</a:t>
            </a:r>
            <a:r>
              <a:rPr lang="zh-CN" altLang="en-US" sz="1600" dirty="0"/>
              <a:t>大区域分类失败</a:t>
            </a:r>
            <a:endParaRPr lang="en-US" altLang="zh-CN" sz="1600" dirty="0"/>
          </a:p>
          <a:p>
            <a:pPr>
              <a:lnSpc>
                <a:spcPct val="200000"/>
              </a:lnSpc>
            </a:pPr>
            <a:r>
              <a:rPr lang="en-US" sz="1600" dirty="0"/>
              <a:t>2</a:t>
            </a:r>
            <a:r>
              <a:rPr lang="en-AU" sz="1600" dirty="0"/>
              <a:t>.</a:t>
            </a:r>
            <a:r>
              <a:rPr lang="zh-CN" altLang="en-US" sz="1600" dirty="0"/>
              <a:t>训练点质量不能满足需求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531855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1084</Words>
  <Application>Microsoft Office PowerPoint</Application>
  <PresentationFormat>Widescreen</PresentationFormat>
  <Paragraphs>122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黑体</vt:lpstr>
      <vt:lpstr>Arial</vt:lpstr>
      <vt:lpstr>Calibri</vt:lpstr>
      <vt:lpstr>Calibri Light</vt:lpstr>
      <vt:lpstr>Wingdings</vt:lpstr>
      <vt:lpstr>第一PPT，www.1ppt.com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新农村</dc:title>
  <dc:creator>第一PPT</dc:creator>
  <cp:keywords>www.1ppt.com</cp:keywords>
  <cp:lastModifiedBy>Wang Jinzhu</cp:lastModifiedBy>
  <cp:revision>150</cp:revision>
  <dcterms:created xsi:type="dcterms:W3CDTF">2017-02-23T06:18:28Z</dcterms:created>
  <dcterms:modified xsi:type="dcterms:W3CDTF">2020-09-20T05:51:13Z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2052-10.1.0.6207</vt:lpwstr>
  </property>
</Properties>
</file>